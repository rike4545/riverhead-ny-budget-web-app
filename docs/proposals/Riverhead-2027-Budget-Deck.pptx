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Within the cap</c:v>
                </c:pt>
              </c:strCache>
            </c:strRef>
          </c:tx>
          <c:spPr>
            <a:solidFill>
              <a:srgbClr val="94A3B8"/>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2026 levy</c:v>
                  </c:pt>
                  <c:pt idx="1">
                    <c:v>2027 projected levy</c:v>
                  </c:pt>
                </c:lvl>
              </c:multiLvlStrCache>
            </c:multiLvlStrRef>
          </c:cat>
          <c:val>
            <c:numRef>
              <c:f>Sheet1!$B$2:$B$3</c:f>
              <c:numCache>
                <c:formatCode>General</c:formatCode>
                <c:ptCount val="2"/>
                <c:pt idx="0">
                  <c:v>65343939</c:v>
                </c:pt>
                <c:pt idx="1">
                  <c:v>66650818</c:v>
                </c:pt>
              </c:numCache>
            </c:numRef>
          </c:val>
        </c:ser>
        <c:ser>
          <c:idx val="1"/>
          <c:order val="1"/>
          <c:tx>
            <c:strRef>
              <c:f>Sheet1!$C$1</c:f>
              <c:strCache>
                <c:ptCount val="1"/>
                <c:pt idx="0">
                  <c:v>Above the cap</c:v>
                </c:pt>
              </c:strCache>
            </c:strRef>
          </c:tx>
          <c:spPr>
            <a:solidFill>
              <a:srgbClr val="BF4038"/>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2026 levy</c:v>
                  </c:pt>
                  <c:pt idx="1">
                    <c:v>2027 projected levy</c:v>
                  </c:pt>
                </c:lvl>
              </c:multiLvlStrCache>
            </c:multiLvlStrRef>
          </c:cat>
          <c:val>
            <c:numRef>
              <c:f>Sheet1!$C$2:$C$3</c:f>
              <c:numCache>
                <c:formatCode>General</c:formatCode>
                <c:ptCount val="2"/>
                <c:pt idx="0">
                  <c:v>0</c:v>
                </c:pt>
                <c:pt idx="1">
                  <c:v>2757133</c:v>
                </c:pt>
              </c:numCache>
            </c:numRef>
          </c:val>
        </c:ser>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gapWidth val="11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F4A56"/>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DF2"/>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100" b="0" i="0" u="none" strike="noStrike">
                <a:solidFill>
                  <a:srgbClr val="6B7A8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F4A5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Annual value</c:v>
                </c:pt>
              </c:strCache>
            </c:strRef>
          </c:tx>
          <c:spPr>
            <a:solidFill>
              <a:srgbClr val="B98416"/>
            </a:solidFill>
            <a:effectLst/>
          </c:spPr>
          <c:invertIfNegative val="0"/>
          <c:dLbls>
            <c:numFmt formatCode="#,##0" sourceLinked="0"/>
            <c:txPr>
              <a:bodyPr/>
              <a:lstStyle/>
              <a:p>
                <a:pPr>
                  <a:defRPr b="1" i="0" strike="noStrike" sz="1200" u="none">
                    <a:solidFill>
                      <a:srgbClr val="1F29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Refill control on
targeted retirements</c:v>
                  </c:pt>
                  <c:pt idx="1">
                    <c:v>1% civilian
vacancy factor</c:v>
                  </c:pt>
                  <c:pt idx="2">
                    <c:v>Police OT to the
regional rate</c:v>
                  </c:pt>
                  <c:pt idx="3">
                    <c:v>20% healthcare
premium share</c:v>
                  </c:pt>
                  <c:pt idx="4">
                    <c:v>Hold exempt
raises</c:v>
                  </c:pt>
                  <c:pt idx="5">
                    <c:v>Hold elected
salary growth</c:v>
                  </c:pt>
                </c:lvl>
              </c:multiLvlStrCache>
            </c:multiLvlStrRef>
          </c:cat>
          <c:val>
            <c:numRef>
              <c:f>Sheet1!$B$2:$B$7</c:f>
              <c:numCache>
                <c:formatCode>General</c:formatCode>
                <c:ptCount val="6"/>
                <c:pt idx="0">
                  <c:v>291300</c:v>
                </c:pt>
                <c:pt idx="1">
                  <c:v>124158</c:v>
                </c:pt>
                <c:pt idx="2">
                  <c:v>94404</c:v>
                </c:pt>
                <c:pt idx="3">
                  <c:v>85085</c:v>
                </c:pt>
                <c:pt idx="4">
                  <c:v>23095</c:v>
                </c:pt>
                <c:pt idx="5">
                  <c:v>22279</c:v>
                </c:pt>
              </c:numCache>
            </c:numRef>
          </c:val>
        </c:ser>
        <c:dLbls>
          <c:numFmt formatCode="#,##0" sourceLinked="0"/>
          <c:txPr>
            <a:bodyPr/>
            <a:lstStyle/>
            <a:p>
              <a:pPr>
                <a:defRPr b="1" i="0" strike="noStrike" sz="1200" u="none">
                  <a:solidFill>
                    <a:srgbClr val="1F29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F4A56"/>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7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Growth 2025 to 2026</c:v>
                </c:pt>
              </c:strCache>
            </c:strRef>
          </c:tx>
          <c:spPr>
            <a:solidFill>
              <a:srgbClr val="109184"/>
            </a:solidFill>
            <a:effectLst/>
          </c:spPr>
          <c:invertIfNegative val="0"/>
          <c:dLbls>
            <c:numFmt formatCode="#,##0&quot;%&quot;" sourceLinked="0"/>
            <c:txPr>
              <a:bodyPr/>
              <a:lstStyle/>
              <a:p>
                <a:pPr>
                  <a:defRPr b="1" i="0" strike="noStrike" sz="1200" u="none">
                    <a:solidFill>
                      <a:srgbClr val="1F29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Misc. general
government</c:v>
                  </c:pt>
                  <c:pt idx="1">
                    <c:v>Tax collection
postage</c:v>
                  </c:pt>
                  <c:pt idx="2">
                    <c:v>Scavenger waste
disposal</c:v>
                  </c:pt>
                  <c:pt idx="3">
                    <c:v>Town attorney
buy-back</c:v>
                  </c:pt>
                  <c:pt idx="4">
                    <c:v>Police health
buy-back</c:v>
                  </c:pt>
                  <c:pt idx="5">
                    <c:v>Police holiday
pay</c:v>
                  </c:pt>
                </c:lvl>
              </c:multiLvlStrCache>
            </c:multiLvlStrRef>
          </c:cat>
          <c:val>
            <c:numRef>
              <c:f>Sheet1!$B$2:$B$7</c:f>
              <c:numCache>
                <c:formatCode>General</c:formatCode>
                <c:ptCount val="6"/>
                <c:pt idx="0">
                  <c:v>1563</c:v>
                </c:pt>
                <c:pt idx="1">
                  <c:v>800</c:v>
                </c:pt>
                <c:pt idx="2">
                  <c:v>38.2</c:v>
                </c:pt>
                <c:pt idx="3">
                  <c:v>31.1</c:v>
                </c:pt>
                <c:pt idx="4">
                  <c:v>28.8</c:v>
                </c:pt>
                <c:pt idx="5">
                  <c:v>25.3</c:v>
                </c:pt>
              </c:numCache>
            </c:numRef>
          </c:val>
        </c:ser>
        <c:dLbls>
          <c:numFmt formatCode="#,##0&quot;%&quot;" sourceLinked="0"/>
          <c:txPr>
            <a:bodyPr/>
            <a:lstStyle/>
            <a:p>
              <a:pPr>
                <a:defRPr b="1" i="0" strike="noStrike" sz="1200" u="none">
                  <a:solidFill>
                    <a:srgbClr val="1F29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F4A56"/>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0&quot;%&quot;" sourceLinked="0"/>
        <c:majorTickMark val="out"/>
        <c:minorTickMark val="none"/>
        <c:tickLblPos val="low"/>
        <c:spPr>
          <a:ln w="12700" cap="flat">
            <a:noFill/>
            <a:prstDash val="solid"/>
            <a:round/>
          </a:ln>
        </c:spPr>
        <c:txPr>
          <a:bodyPr/>
          <a:lstStyle/>
          <a:p>
            <a:pPr>
              <a:defRPr sz="1100" b="0" i="0" u="none" strike="noStrike">
                <a:solidFill>
                  <a:srgbClr val="6B7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94A3B8"/>
            </a:solidFill>
            <a:effectLst/>
          </c:spPr>
          <c:invertIfNegative val="0"/>
          <c:dLbls>
            <c:numFmt formatCode="#,##0" sourceLinked="0"/>
            <c:txPr>
              <a:bodyPr/>
              <a:lstStyle/>
              <a:p>
                <a:pPr>
                  <a:defRPr b="1" i="0" strike="noStrike" sz="1200" u="none">
                    <a:solidFill>
                      <a:srgbClr val="1F29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BF4038"/>
              </a:solidFill>
              <a:effectLst/>
            </c:spPr>
          </c:dPt>
          <c:cat>
            <c:multiLvlStrRef>
              <c:f>Sheet1!$A$2:$A$3</c:f>
              <c:multiLvlStrCache>
                <c:ptCount val="2"/>
                <c:lvl>
                  <c:pt idx="0">
                    <c:v>All 52 qualifying lines</c:v>
                  </c:pt>
                  <c:pt idx="1">
                    <c:v>The 20 firm lines
I am counting</c:v>
                  </c:pt>
                </c:lvl>
              </c:multiLvlStrCache>
            </c:multiLvlStrRef>
          </c:cat>
          <c:val>
            <c:numRef>
              <c:f>Sheet1!$B$2:$B$3</c:f>
              <c:numCache>
                <c:formatCode>General</c:formatCode>
                <c:ptCount val="2"/>
                <c:pt idx="0">
                  <c:v>2358935</c:v>
                </c:pt>
                <c:pt idx="1">
                  <c:v>828210</c:v>
                </c:pt>
              </c:numCache>
            </c:numRef>
          </c:val>
        </c:ser>
        <c:dLbls>
          <c:numFmt formatCode="#,##0" sourceLinked="0"/>
          <c:txPr>
            <a:bodyPr/>
            <a:lstStyle/>
            <a:p>
              <a:pPr>
                <a:defRPr b="1" i="0" strike="noStrike" sz="1200" u="none">
                  <a:solidFill>
                    <a:srgbClr val="1F2933"/>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F4A56"/>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7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1. Retirement savings</c:v>
                </c:pt>
              </c:strCache>
            </c:strRef>
          </c:tx>
          <c:spPr>
            <a:solidFill>
              <a:srgbClr val="2E6FB7"/>
            </a:solidFill>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The five measures</c:v>
                  </c:pt>
                  <c:pt idx="1">
                    <c:v>The gap to close</c:v>
                  </c:pt>
                </c:lvl>
              </c:multiLvlStrCache>
            </c:multiLvlStrRef>
          </c:cat>
          <c:val>
            <c:numRef>
              <c:f>Sheet1!$B$2:$B$3</c:f>
              <c:numCache>
                <c:formatCode>General</c:formatCode>
                <c:ptCount val="2"/>
                <c:pt idx="0">
                  <c:v>500000</c:v>
                </c:pt>
                <c:pt idx="1">
                  <c:v>0</c:v>
                </c:pt>
              </c:numCache>
            </c:numRef>
          </c:val>
        </c:ser>
        <c:ser>
          <c:idx val="1"/>
          <c:order val="1"/>
          <c:tx>
            <c:strRef>
              <c:f>Sheet1!$C$1</c:f>
              <c:strCache>
                <c:ptCount val="1"/>
                <c:pt idx="0">
                  <c:v>2. Board resolution package</c:v>
                </c:pt>
              </c:strCache>
            </c:strRef>
          </c:tx>
          <c:spPr>
            <a:solidFill>
              <a:srgbClr val="B98416"/>
            </a:solidFill>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The five measures</c:v>
                  </c:pt>
                  <c:pt idx="1">
                    <c:v>The gap to close</c:v>
                  </c:pt>
                </c:lvl>
              </c:multiLvlStrCache>
            </c:multiLvlStrRef>
          </c:cat>
          <c:val>
            <c:numRef>
              <c:f>Sheet1!$C$2:$C$3</c:f>
              <c:numCache>
                <c:formatCode>General</c:formatCode>
                <c:ptCount val="2"/>
                <c:pt idx="0">
                  <c:v>640321</c:v>
                </c:pt>
                <c:pt idx="1">
                  <c:v>0</c:v>
                </c:pt>
              </c:numCache>
            </c:numRef>
          </c:val>
        </c:ser>
        <c:ser>
          <c:idx val="2"/>
          <c:order val="2"/>
          <c:tx>
            <c:strRef>
              <c:f>Sheet1!$D$1</c:f>
              <c:strCache>
                <c:ptCount val="1"/>
                <c:pt idx="0">
                  <c:v>3. Lines justified first</c:v>
                </c:pt>
              </c:strCache>
            </c:strRef>
          </c:tx>
          <c:spPr>
            <a:solidFill>
              <a:srgbClr val="109184"/>
            </a:solidFill>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The five measures</c:v>
                  </c:pt>
                  <c:pt idx="1">
                    <c:v>The gap to close</c:v>
                  </c:pt>
                </c:lvl>
              </c:multiLvlStrCache>
            </c:multiLvlStrRef>
          </c:cat>
          <c:val>
            <c:numRef>
              <c:f>Sheet1!$D$2:$D$3</c:f>
              <c:numCache>
                <c:formatCode>General</c:formatCode>
                <c:ptCount val="2"/>
                <c:pt idx="0">
                  <c:v>627400</c:v>
                </c:pt>
                <c:pt idx="1">
                  <c:v>0</c:v>
                </c:pt>
              </c:numCache>
            </c:numRef>
          </c:val>
        </c:ser>
        <c:ser>
          <c:idx val="3"/>
          <c:order val="3"/>
          <c:tx>
            <c:strRef>
              <c:f>Sheet1!$E$1</c:f>
              <c:strCache>
                <c:ptCount val="1"/>
                <c:pt idx="0">
                  <c:v>4. Run-rate trims</c:v>
                </c:pt>
              </c:strCache>
            </c:strRef>
          </c:tx>
          <c:spPr>
            <a:solidFill>
              <a:srgbClr val="BF4038"/>
            </a:solidFill>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The five measures</c:v>
                  </c:pt>
                  <c:pt idx="1">
                    <c:v>The gap to close</c:v>
                  </c:pt>
                </c:lvl>
              </c:multiLvlStrCache>
            </c:multiLvlStrRef>
          </c:cat>
          <c:val>
            <c:numRef>
              <c:f>Sheet1!$E$2:$E$3</c:f>
              <c:numCache>
                <c:formatCode>General</c:formatCode>
                <c:ptCount val="2"/>
                <c:pt idx="0">
                  <c:v>828210</c:v>
                </c:pt>
                <c:pt idx="1">
                  <c:v>0</c:v>
                </c:pt>
              </c:numCache>
            </c:numRef>
          </c:val>
        </c:ser>
        <c:ser>
          <c:idx val="4"/>
          <c:order val="4"/>
          <c:tx>
            <c:strRef>
              <c:f>Sheet1!$F$1</c:f>
              <c:strCache>
                <c:ptCount val="1"/>
                <c:pt idx="0">
                  <c:v>5. Pension exclusion</c:v>
                </c:pt>
              </c:strCache>
            </c:strRef>
          </c:tx>
          <c:spPr>
            <a:solidFill>
              <a:srgbClr val="8158CC"/>
            </a:solidFill>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The five measures</c:v>
                  </c:pt>
                  <c:pt idx="1">
                    <c:v>The gap to close</c:v>
                  </c:pt>
                </c:lvl>
              </c:multiLvlStrCache>
            </c:multiLvlStrRef>
          </c:cat>
          <c:val>
            <c:numRef>
              <c:f>Sheet1!$F$2:$F$3</c:f>
              <c:numCache>
                <c:formatCode>General</c:formatCode>
                <c:ptCount val="2"/>
                <c:pt idx="0">
                  <c:v>137642</c:v>
                </c:pt>
                <c:pt idx="1">
                  <c:v>0</c:v>
                </c:pt>
              </c:numCache>
            </c:numRef>
          </c:val>
        </c:ser>
        <c:ser>
          <c:idx val="5"/>
          <c:order val="5"/>
          <c:tx>
            <c:strRef>
              <c:f>Sheet1!$G$1</c:f>
              <c:strCache>
                <c:ptCount val="1"/>
                <c:pt idx="0">
                  <c:v>Gap</c:v>
                </c:pt>
              </c:strCache>
            </c:strRef>
          </c:tx>
          <c:spPr>
            <a:solidFill>
              <a:srgbClr val="94A3B8"/>
            </a:solidFill>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The five measures</c:v>
                  </c:pt>
                  <c:pt idx="1">
                    <c:v>The gap to close</c:v>
                  </c:pt>
                </c:lvl>
              </c:multiLvlStrCache>
            </c:multiLvlStrRef>
          </c:cat>
          <c:val>
            <c:numRef>
              <c:f>Sheet1!$G$2:$G$3</c:f>
              <c:numCache>
                <c:formatCode>General</c:formatCode>
                <c:ptCount val="2"/>
                <c:pt idx="0">
                  <c:v>0</c:v>
                </c:pt>
                <c:pt idx="1">
                  <c:v>2757133</c:v>
                </c:pt>
              </c:numCache>
            </c:numRef>
          </c:val>
        </c:ser>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gapWidth val="12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F4A56"/>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DF2"/>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100" b="0" i="0" u="none" strike="noStrike">
                <a:solidFill>
                  <a:srgbClr val="6B7A8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F4A5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Yield</c:v>
                </c:pt>
              </c:strCache>
            </c:strRef>
          </c:tx>
          <c:spPr>
            <a:solidFill>
              <a:srgbClr val="94A3B8"/>
            </a:solidFill>
            <a:effectLst/>
          </c:spPr>
          <c:invertIfNegative val="0"/>
          <c:dLbls>
            <c:numFmt formatCode="#,##0" sourceLinked="0"/>
            <c:txPr>
              <a:bodyPr/>
              <a:lstStyle/>
              <a:p>
                <a:pPr>
                  <a:defRPr b="1" i="0" strike="noStrike" sz="1200" u="none">
                    <a:solidFill>
                      <a:srgbClr val="1F29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BF4038"/>
              </a:solidFill>
              <a:effectLst/>
            </c:spPr>
          </c:dPt>
          <c:cat>
            <c:multiLvlStrRef>
              <c:f>Sheet1!$A$2:$A$3</c:f>
              <c:multiLvlStrCache>
                <c:ptCount val="2"/>
                <c:lvl>
                  <c:pt idx="0">
                    <c:v>What it sounds like</c:v>
                  </c:pt>
                  <c:pt idx="1">
                    <c:v>What is actually
controllable</c:v>
                  </c:pt>
                </c:lvl>
              </c:multiLvlStrCache>
            </c:multiLvlStrRef>
          </c:cat>
          <c:val>
            <c:numRef>
              <c:f>Sheet1!$B$2:$B$3</c:f>
              <c:numCache>
                <c:formatCode>General</c:formatCode>
                <c:ptCount val="2"/>
                <c:pt idx="0">
                  <c:v>1723635</c:v>
                </c:pt>
                <c:pt idx="1">
                  <c:v>725967</c:v>
                </c:pt>
              </c:numCache>
            </c:numRef>
          </c:val>
        </c:ser>
        <c:dLbls>
          <c:numFmt formatCode="#,##0" sourceLinked="0"/>
          <c:txPr>
            <a:bodyPr/>
            <a:lstStyle/>
            <a:p>
              <a:pPr>
                <a:defRPr b="1" i="0" strike="noStrike" sz="1200" u="none">
                  <a:solidFill>
                    <a:srgbClr val="1F2933"/>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F4A56"/>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7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whole argument in one line: the gap is real, and it can be closed without an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arithmetic, not opinion. 6.2% growth against a ~2%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most of the pressure is contractual. The argument is about the remainder.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is independent. Take one, leave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did the hard part. All five voted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the overtime point up front — it buys credibility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an accusation — a documentation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claiming less than is available. Credibility over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money in the sense that it requires no cut — just correct bookkeeping.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slide. Even heavily discounted, it changes the size of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two easy paths and why each fails, before someone proposes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close the 2027 gap; this is just the time of year they get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Sincere. It also makes the critique land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price them, do not necessarily adopt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A40"/>
        </a:solidFill>
      </p:bgPr>
    </p:bg>
    <p:spTree>
      <p:nvGrpSpPr>
        <p:cNvPr id="1" name=""/>
        <p:cNvGrpSpPr/>
        <p:nvPr/>
      </p:nvGrpSpPr>
      <p:grpSpPr>
        <a:xfrm>
          <a:off x="0" y="0"/>
          <a:ext cx="0" cy="0"/>
          <a:chOff x="0" y="0"/>
          <a:chExt cx="0" cy="0"/>
        </a:xfrm>
      </p:grpSpPr>
      <p:sp>
        <p:nvSpPr>
          <p:cNvPr id="2" name="Text 0"/>
          <p:cNvSpPr/>
          <p:nvPr/>
        </p:nvSpPr>
        <p:spPr>
          <a:xfrm>
            <a:off x="685800" y="1371600"/>
            <a:ext cx="10789920" cy="274320"/>
          </a:xfrm>
          <a:prstGeom prst="rect">
            <a:avLst/>
          </a:prstGeom>
          <a:noFill/>
          <a:ln/>
        </p:spPr>
        <p:txBody>
          <a:bodyPr wrap="square" rtlCol="0" anchor="ctr"/>
          <a:lstStyle/>
          <a:p>
            <a:pPr indent="0" marL="0">
              <a:buNone/>
            </a:pPr>
            <a:r>
              <a:rPr lang="en-US" sz="1300" b="1" spc="200" kern="0" dirty="0">
                <a:solidFill>
                  <a:srgbClr val="C9962E"/>
                </a:solidFill>
                <a:latin typeface="Calibri" pitchFamily="34" charset="0"/>
                <a:ea typeface="Calibri" pitchFamily="34" charset="-122"/>
                <a:cs typeface="Calibri" pitchFamily="34" charset="-120"/>
              </a:rPr>
              <a:t>RIVERHEAD BUDGET LIVE  ·  A RESIDENT ANALYSIS</a:t>
            </a:r>
            <a:endParaRPr lang="en-US" sz="1300" dirty="0"/>
          </a:p>
        </p:txBody>
      </p:sp>
      <p:sp>
        <p:nvSpPr>
          <p:cNvPr id="3" name="Text 1"/>
          <p:cNvSpPr/>
          <p:nvPr/>
        </p:nvSpPr>
        <p:spPr>
          <a:xfrm>
            <a:off x="685800" y="1828800"/>
            <a:ext cx="10789920" cy="91440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Closing a $2.76 Million Gap</a:t>
            </a:r>
            <a:endParaRPr lang="en-US" sz="5200" dirty="0"/>
          </a:p>
        </p:txBody>
      </p:sp>
      <p:sp>
        <p:nvSpPr>
          <p:cNvPr id="4" name="Text 2"/>
          <p:cNvSpPr/>
          <p:nvPr/>
        </p:nvSpPr>
        <p:spPr>
          <a:xfrm>
            <a:off x="685800" y="2788920"/>
            <a:ext cx="10058400" cy="457200"/>
          </a:xfrm>
          <a:prstGeom prst="rect">
            <a:avLst/>
          </a:prstGeom>
          <a:noFill/>
          <a:ln/>
        </p:spPr>
        <p:txBody>
          <a:bodyPr wrap="square" rtlCol="0" anchor="ctr"/>
          <a:lstStyle/>
          <a:p>
            <a:pPr indent="0" marL="0">
              <a:buNone/>
            </a:pPr>
            <a:r>
              <a:rPr lang="en-US" sz="2000" dirty="0">
                <a:solidFill>
                  <a:srgbClr val="C7D6E5"/>
                </a:solidFill>
                <a:latin typeface="Calibri" pitchFamily="34" charset="0"/>
                <a:ea typeface="Calibri" pitchFamily="34" charset="-122"/>
                <a:cs typeface="Calibri" pitchFamily="34" charset="-120"/>
              </a:rPr>
              <a:t>Five ways to balance the 2027 budget without a fourth tax-cap override</a:t>
            </a:r>
            <a:endParaRPr lang="en-US" sz="2000" dirty="0"/>
          </a:p>
        </p:txBody>
      </p:sp>
      <p:sp>
        <p:nvSpPr>
          <p:cNvPr id="5" name="Shape 3"/>
          <p:cNvSpPr/>
          <p:nvPr/>
        </p:nvSpPr>
        <p:spPr>
          <a:xfrm>
            <a:off x="713232" y="3520440"/>
            <a:ext cx="1280160" cy="32004"/>
          </a:xfrm>
          <a:prstGeom prst="rect">
            <a:avLst/>
          </a:prstGeom>
          <a:solidFill>
            <a:srgbClr val="C9962E"/>
          </a:solidFill>
          <a:ln/>
        </p:spPr>
      </p:sp>
      <p:sp>
        <p:nvSpPr>
          <p:cNvPr id="6" name="Text 4"/>
          <p:cNvSpPr/>
          <p:nvPr/>
        </p:nvSpPr>
        <p:spPr>
          <a:xfrm>
            <a:off x="685800" y="3794760"/>
            <a:ext cx="10789920" cy="320040"/>
          </a:xfrm>
          <a:prstGeom prst="rect">
            <a:avLst/>
          </a:prstGeom>
          <a:noFill/>
          <a:ln/>
        </p:spPr>
        <p:txBody>
          <a:bodyPr wrap="square" rtlCol="0" anchor="ctr"/>
          <a:lstStyle/>
          <a:p>
            <a:pPr indent="0" marL="0">
              <a:buNone/>
            </a:pPr>
            <a:r>
              <a:rPr lang="en-US" sz="1500" dirty="0">
                <a:solidFill>
                  <a:srgbClr val="9FB4C9"/>
                </a:solidFill>
                <a:latin typeface="Calibri" pitchFamily="34" charset="0"/>
                <a:ea typeface="Calibri" pitchFamily="34" charset="-122"/>
                <a:cs typeface="Calibri" pitchFamily="34" charset="-120"/>
              </a:rPr>
              <a:t>Prepared for Supervisor Jerry Halpin  ·  August 2026</a:t>
            </a:r>
            <a:endParaRPr lang="en-US" sz="1500" dirty="0"/>
          </a:p>
        </p:txBody>
      </p:sp>
      <p:sp>
        <p:nvSpPr>
          <p:cNvPr id="7" name="Text 5"/>
          <p:cNvSpPr/>
          <p:nvPr/>
        </p:nvSpPr>
        <p:spPr>
          <a:xfrm>
            <a:off x="685800" y="5943600"/>
            <a:ext cx="10789920" cy="320040"/>
          </a:xfrm>
          <a:prstGeom prst="rect">
            <a:avLst/>
          </a:prstGeom>
          <a:noFill/>
          <a:ln/>
        </p:spPr>
        <p:txBody>
          <a:bodyPr wrap="square" rtlCol="0" anchor="ctr"/>
          <a:lstStyle/>
          <a:p>
            <a:pPr indent="0" marL="0">
              <a:buNone/>
            </a:pPr>
            <a:r>
              <a:rPr lang="en-US" sz="1200" i="1" dirty="0">
                <a:solidFill>
                  <a:srgbClr val="7E93A8"/>
                </a:solidFill>
                <a:latin typeface="Calibri" pitchFamily="34" charset="0"/>
                <a:ea typeface="Calibri" pitchFamily="34" charset="-122"/>
                <a:cs typeface="Calibri" pitchFamily="34" charset="-120"/>
              </a:rPr>
              <a:t>Every figure traced to the Town’s own adopted budget, budget supplement, and audited financial reports.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Next year’s levy runs past the cap</a:t>
            </a:r>
            <a:endParaRPr lang="en-US" sz="3400" dirty="0"/>
          </a:p>
        </p:txBody>
      </p:sp>
      <p:sp>
        <p:nvSpPr>
          <p:cNvPr id="4" name="Text 2"/>
          <p:cNvSpPr/>
          <p:nvPr/>
        </p:nvSpPr>
        <p:spPr>
          <a:xfrm>
            <a:off x="548640" y="1783080"/>
            <a:ext cx="4754880" cy="1005840"/>
          </a:xfrm>
          <a:prstGeom prst="rect">
            <a:avLst/>
          </a:prstGeom>
          <a:noFill/>
          <a:ln/>
        </p:spPr>
        <p:txBody>
          <a:bodyPr wrap="square" rtlCol="0" anchor="ctr"/>
          <a:lstStyle/>
          <a:p>
            <a:pPr indent="0" marL="0">
              <a:buNone/>
            </a:pPr>
            <a:r>
              <a:rPr lang="en-US" sz="6000" b="1" dirty="0">
                <a:solidFill>
                  <a:srgbClr val="B91C1C"/>
                </a:solidFill>
                <a:latin typeface="Cambria" pitchFamily="34" charset="0"/>
                <a:ea typeface="Cambria" pitchFamily="34" charset="-122"/>
                <a:cs typeface="Cambria" pitchFamily="34" charset="-120"/>
              </a:rPr>
              <a:t>$2,757,133</a:t>
            </a:r>
            <a:endParaRPr lang="en-US" sz="6000" dirty="0"/>
          </a:p>
        </p:txBody>
      </p:sp>
      <p:sp>
        <p:nvSpPr>
          <p:cNvPr id="5" name="Text 3"/>
          <p:cNvSpPr/>
          <p:nvPr/>
        </p:nvSpPr>
        <p:spPr>
          <a:xfrm>
            <a:off x="566928" y="2743200"/>
            <a:ext cx="4572000" cy="365760"/>
          </a:xfrm>
          <a:prstGeom prst="rect">
            <a:avLst/>
          </a:prstGeom>
          <a:noFill/>
          <a:ln/>
        </p:spPr>
        <p:txBody>
          <a:bodyPr wrap="square" rtlCol="0" anchor="ctr"/>
          <a:lstStyle/>
          <a:p>
            <a:pPr indent="0" marL="0">
              <a:buNone/>
            </a:pPr>
            <a:r>
              <a:rPr lang="en-US" sz="1600" dirty="0">
                <a:solidFill>
                  <a:srgbClr val="3F4A56"/>
                </a:solidFill>
                <a:latin typeface="Calibri" pitchFamily="34" charset="0"/>
                <a:ea typeface="Calibri" pitchFamily="34" charset="-122"/>
                <a:cs typeface="Calibri" pitchFamily="34" charset="-120"/>
              </a:rPr>
              <a:t>over the tax-cap ceiling, on current trend</a:t>
            </a:r>
            <a:endParaRPr lang="en-US" sz="1600" dirty="0"/>
          </a:p>
        </p:txBody>
      </p:sp>
      <p:sp>
        <p:nvSpPr>
          <p:cNvPr id="6" name="Text 4"/>
          <p:cNvSpPr/>
          <p:nvPr/>
        </p:nvSpPr>
        <p:spPr>
          <a:xfrm>
            <a:off x="566928" y="3291840"/>
            <a:ext cx="4572000" cy="1463040"/>
          </a:xfrm>
          <a:prstGeom prst="rect">
            <a:avLst/>
          </a:prstGeom>
          <a:noFill/>
          <a:ln/>
        </p:spPr>
        <p:txBody>
          <a:bodyPr wrap="square" rtlCol="0" anchor="t"/>
          <a:lstStyle/>
          <a:p>
            <a:pPr indent="0" marL="0">
              <a:buNone/>
            </a:pPr>
            <a:r>
              <a:rPr lang="en-US" sz="1500" dirty="0">
                <a:solidFill>
                  <a:srgbClr val="3F4A56"/>
                </a:solidFill>
                <a:latin typeface="Calibri" pitchFamily="34" charset="0"/>
                <a:ea typeface="Calibri" pitchFamily="34" charset="-122"/>
                <a:cs typeface="Calibri" pitchFamily="34" charset="-120"/>
              </a:rPr>
              <a:t>The 2027 levy grows about </a:t>
            </a:r>
            <a:pPr indent="0" marL="0">
              <a:buNone/>
            </a:pPr>
            <a:r>
              <a:rPr lang="en-US" sz="1500" b="1" dirty="0">
                <a:solidFill>
                  <a:srgbClr val="1F2933"/>
                </a:solidFill>
                <a:latin typeface="Calibri" pitchFamily="34" charset="0"/>
                <a:ea typeface="Calibri" pitchFamily="34" charset="-122"/>
                <a:cs typeface="Calibri" pitchFamily="34" charset="-120"/>
              </a:rPr>
              <a:t>6.2%</a:t>
            </a:r>
            <a:pPr indent="0" marL="0">
              <a:buNone/>
            </a:pPr>
            <a:r>
              <a:rPr lang="en-US" sz="1500" dirty="0">
                <a:solidFill>
                  <a:srgbClr val="3F4A56"/>
                </a:solidFill>
                <a:latin typeface="Calibri" pitchFamily="34" charset="0"/>
                <a:ea typeface="Calibri" pitchFamily="34" charset="-122"/>
                <a:cs typeface="Calibri" pitchFamily="34" charset="-120"/>
              </a:rPr>
              <a:t>. The cap allows roughly 2%. The difference is the gap — and it has to be closed by a cut, new revenue, reserves, or an override.</a:t>
            </a:r>
            <a:endParaRPr lang="en-US" sz="1500" dirty="0"/>
          </a:p>
        </p:txBody>
      </p:sp>
      <p:graphicFrame>
        <p:nvGraphicFramePr>
          <p:cNvPr id="7" name="Chart 0" descr=""/>
          <p:cNvGraphicFramePr/>
          <p:nvPr/>
        </p:nvGraphicFramePr>
        <p:xfrm>
          <a:off x="5577840" y="169164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6035040"/>
            <a:ext cx="11064240" cy="292608"/>
          </a:xfrm>
          <a:prstGeom prst="rect">
            <a:avLst/>
          </a:prstGeom>
          <a:noFill/>
          <a:ln/>
        </p:spPr>
        <p:txBody>
          <a:bodyPr wrap="square" rtlCol="0" anchor="ctr"/>
          <a:lstStyle/>
          <a:p>
            <a:pPr indent="0" marL="0">
              <a:buNone/>
            </a:pPr>
            <a:r>
              <a:rPr lang="en-US" sz="1000" dirty="0">
                <a:solidFill>
                  <a:srgbClr val="6B7A8A"/>
                </a:solidFill>
                <a:latin typeface="Calibri" pitchFamily="34" charset="0"/>
                <a:ea typeface="Calibri" pitchFamily="34" charset="-122"/>
                <a:cs typeface="Calibri" pitchFamily="34" charset="-120"/>
              </a:rPr>
              <a:t>Source: 2026 Adopted Budget and Budget Supplement, carried forward on signed contract terms.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WHAT IS DRIVING IT</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Part of the increase is already locked in</a:t>
            </a:r>
            <a:endParaRPr lang="en-US" sz="3400" dirty="0"/>
          </a:p>
        </p:txBody>
      </p:sp>
      <p:sp>
        <p:nvSpPr>
          <p:cNvPr id="4" name="Shape 2"/>
          <p:cNvSpPr/>
          <p:nvPr/>
        </p:nvSpPr>
        <p:spPr>
          <a:xfrm>
            <a:off x="548640" y="1737360"/>
            <a:ext cx="5394960" cy="1874520"/>
          </a:xfrm>
          <a:prstGeom prst="roundRect">
            <a:avLst>
              <a:gd name="adj" fmla="val 3902"/>
            </a:avLst>
          </a:prstGeom>
          <a:solidFill>
            <a:srgbClr val="F6F8FA"/>
          </a:solidFill>
          <a:ln w="12700">
            <a:solidFill>
              <a:srgbClr val="D8E0E7"/>
            </a:solidFill>
            <a:prstDash val="solid"/>
          </a:ln>
        </p:spPr>
      </p:sp>
      <p:sp>
        <p:nvSpPr>
          <p:cNvPr id="5" name="Text 3"/>
          <p:cNvSpPr/>
          <p:nvPr/>
        </p:nvSpPr>
        <p:spPr>
          <a:xfrm>
            <a:off x="868680" y="1920240"/>
            <a:ext cx="4754880" cy="685800"/>
          </a:xfrm>
          <a:prstGeom prst="rect">
            <a:avLst/>
          </a:prstGeom>
          <a:noFill/>
          <a:ln/>
        </p:spPr>
        <p:txBody>
          <a:bodyPr wrap="square" rtlCol="0" anchor="ctr"/>
          <a:lstStyle/>
          <a:p>
            <a:pPr indent="0" marL="0">
              <a:buNone/>
            </a:pPr>
            <a:r>
              <a:rPr lang="en-US" sz="4000" b="1" dirty="0">
                <a:solidFill>
                  <a:srgbClr val="6B7A8A"/>
                </a:solidFill>
                <a:latin typeface="Cambria" pitchFamily="34" charset="0"/>
                <a:ea typeface="Cambria" pitchFamily="34" charset="-122"/>
                <a:cs typeface="Cambria" pitchFamily="34" charset="-120"/>
              </a:rPr>
              <a:t>$936,727</a:t>
            </a:r>
            <a:endParaRPr lang="en-US" sz="4000" dirty="0"/>
          </a:p>
        </p:txBody>
      </p:sp>
      <p:sp>
        <p:nvSpPr>
          <p:cNvPr id="6" name="Text 4"/>
          <p:cNvSpPr/>
          <p:nvPr/>
        </p:nvSpPr>
        <p:spPr>
          <a:xfrm>
            <a:off x="868680" y="2606040"/>
            <a:ext cx="4754880" cy="292608"/>
          </a:xfrm>
          <a:prstGeom prst="rect">
            <a:avLst/>
          </a:prstGeom>
          <a:noFill/>
          <a:ln/>
        </p:spPr>
        <p:txBody>
          <a:bodyPr wrap="square"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Contractual and automatic</a:t>
            </a:r>
            <a:endParaRPr lang="en-US" sz="1500" dirty="0"/>
          </a:p>
        </p:txBody>
      </p:sp>
      <p:sp>
        <p:nvSpPr>
          <p:cNvPr id="7" name="Text 5"/>
          <p:cNvSpPr/>
          <p:nvPr/>
        </p:nvSpPr>
        <p:spPr>
          <a:xfrm>
            <a:off x="868680" y="2880360"/>
            <a:ext cx="4754880" cy="640080"/>
          </a:xfrm>
          <a:prstGeom prst="rect">
            <a:avLst/>
          </a:prstGeom>
          <a:noFill/>
          <a:ln/>
        </p:spPr>
        <p:txBody>
          <a:bodyPr wrap="square" rtlCol="0" anchor="ctr"/>
          <a:lstStyle/>
          <a:p>
            <a:pPr indent="0" marL="0">
              <a:buNone/>
            </a:pPr>
            <a:r>
              <a:rPr lang="en-US" sz="1250" dirty="0">
                <a:solidFill>
                  <a:srgbClr val="3F4A56"/>
                </a:solidFill>
                <a:latin typeface="Calibri" pitchFamily="34" charset="0"/>
                <a:ea typeface="Calibri" pitchFamily="34" charset="-122"/>
                <a:cs typeface="Calibri" pitchFamily="34" charset="-120"/>
              </a:rPr>
              <a:t>Raises already owed under the PBA, CSEA and SOA agreements, plus non-contract staff. Not a lever — nothing in this deck touches it.</a:t>
            </a:r>
            <a:endParaRPr lang="en-US" sz="1250" dirty="0"/>
          </a:p>
        </p:txBody>
      </p:sp>
      <p:sp>
        <p:nvSpPr>
          <p:cNvPr id="8" name="Shape 6"/>
          <p:cNvSpPr/>
          <p:nvPr/>
        </p:nvSpPr>
        <p:spPr>
          <a:xfrm>
            <a:off x="6217920" y="1737360"/>
            <a:ext cx="5394960" cy="1874520"/>
          </a:xfrm>
          <a:prstGeom prst="roundRect">
            <a:avLst>
              <a:gd name="adj" fmla="val 3902"/>
            </a:avLst>
          </a:prstGeom>
          <a:solidFill>
            <a:srgbClr val="FFF7E8"/>
          </a:solidFill>
          <a:ln w="12700">
            <a:solidFill>
              <a:srgbClr val="D8E0E7"/>
            </a:solidFill>
            <a:prstDash val="solid"/>
          </a:ln>
        </p:spPr>
      </p:sp>
      <p:sp>
        <p:nvSpPr>
          <p:cNvPr id="9" name="Text 7"/>
          <p:cNvSpPr/>
          <p:nvPr/>
        </p:nvSpPr>
        <p:spPr>
          <a:xfrm>
            <a:off x="6537960" y="1920240"/>
            <a:ext cx="4754880" cy="685800"/>
          </a:xfrm>
          <a:prstGeom prst="rect">
            <a:avLst/>
          </a:prstGeom>
          <a:noFill/>
          <a:ln/>
        </p:spPr>
        <p:txBody>
          <a:bodyPr wrap="square" rtlCol="0" anchor="ctr"/>
          <a:lstStyle/>
          <a:p>
            <a:pPr indent="0" marL="0">
              <a:buNone/>
            </a:pPr>
            <a:r>
              <a:rPr lang="en-US" sz="4000" b="1" dirty="0">
                <a:solidFill>
                  <a:srgbClr val="9B6B12"/>
                </a:solidFill>
                <a:latin typeface="Cambria" pitchFamily="34" charset="0"/>
                <a:ea typeface="Cambria" pitchFamily="34" charset="-122"/>
                <a:cs typeface="Cambria" pitchFamily="34" charset="-120"/>
              </a:rPr>
              <a:t>Everything else</a:t>
            </a:r>
            <a:endParaRPr lang="en-US" sz="4000" dirty="0"/>
          </a:p>
        </p:txBody>
      </p:sp>
      <p:sp>
        <p:nvSpPr>
          <p:cNvPr id="10" name="Text 8"/>
          <p:cNvSpPr/>
          <p:nvPr/>
        </p:nvSpPr>
        <p:spPr>
          <a:xfrm>
            <a:off x="6537960" y="2606040"/>
            <a:ext cx="4754880" cy="292608"/>
          </a:xfrm>
          <a:prstGeom prst="rect">
            <a:avLst/>
          </a:prstGeom>
          <a:noFill/>
          <a:ln/>
        </p:spPr>
        <p:txBody>
          <a:bodyPr wrap="square"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Where the choices actually are</a:t>
            </a:r>
            <a:endParaRPr lang="en-US" sz="1500" dirty="0"/>
          </a:p>
        </p:txBody>
      </p:sp>
      <p:sp>
        <p:nvSpPr>
          <p:cNvPr id="11" name="Text 9"/>
          <p:cNvSpPr/>
          <p:nvPr/>
        </p:nvSpPr>
        <p:spPr>
          <a:xfrm>
            <a:off x="6537960" y="2880360"/>
            <a:ext cx="4754880" cy="640080"/>
          </a:xfrm>
          <a:prstGeom prst="rect">
            <a:avLst/>
          </a:prstGeom>
          <a:noFill/>
          <a:ln/>
        </p:spPr>
        <p:txBody>
          <a:bodyPr wrap="square" rtlCol="0" anchor="ctr"/>
          <a:lstStyle/>
          <a:p>
            <a:pPr indent="0" marL="0">
              <a:buNone/>
            </a:pPr>
            <a:r>
              <a:rPr lang="en-US" sz="1250" dirty="0">
                <a:solidFill>
                  <a:srgbClr val="3F4A56"/>
                </a:solidFill>
                <a:latin typeface="Calibri" pitchFamily="34" charset="0"/>
                <a:ea typeface="Calibri" pitchFamily="34" charset="-122"/>
                <a:cs typeface="Calibri" pitchFamily="34" charset="-120"/>
              </a:rPr>
              <a:t>Refill policy, budgeting conventions, lines budgeted above what they actually spend, and one exclusion the cap already allows.</a:t>
            </a:r>
            <a:endParaRPr lang="en-US" sz="1250" dirty="0"/>
          </a:p>
        </p:txBody>
      </p:sp>
      <p:sp>
        <p:nvSpPr>
          <p:cNvPr id="12" name="Text 10"/>
          <p:cNvSpPr/>
          <p:nvPr/>
        </p:nvSpPr>
        <p:spPr>
          <a:xfrm>
            <a:off x="548640" y="3977640"/>
            <a:ext cx="11064240" cy="365760"/>
          </a:xfrm>
          <a:prstGeom prst="rect">
            <a:avLst/>
          </a:prstGeom>
          <a:noFill/>
          <a:ln/>
        </p:spPr>
        <p:txBody>
          <a:bodyPr wrap="square" rtlCol="0" anchor="ctr"/>
          <a:lstStyle/>
          <a:p>
            <a:pPr indent="0" marL="0">
              <a:buNone/>
            </a:pPr>
            <a:r>
              <a:rPr lang="en-US" sz="2100" b="1" dirty="0">
                <a:solidFill>
                  <a:srgbClr val="1F2933"/>
                </a:solidFill>
                <a:latin typeface="Cambria" pitchFamily="34" charset="0"/>
                <a:ea typeface="Cambria" pitchFamily="34" charset="-122"/>
                <a:cs typeface="Cambria" pitchFamily="34" charset="-120"/>
              </a:rPr>
              <a:t>The Town has exceeded the cap in 2023, 2024 and again in 2026.</a:t>
            </a:r>
            <a:endParaRPr lang="en-US" sz="2100" dirty="0"/>
          </a:p>
        </p:txBody>
      </p:sp>
      <p:sp>
        <p:nvSpPr>
          <p:cNvPr id="13" name="Text 11"/>
          <p:cNvSpPr/>
          <p:nvPr/>
        </p:nvSpPr>
        <p:spPr>
          <a:xfrm>
            <a:off x="548640" y="4389120"/>
            <a:ext cx="10424160" cy="548640"/>
          </a:xfrm>
          <a:prstGeom prst="rect">
            <a:avLst/>
          </a:prstGeom>
          <a:noFill/>
          <a:ln/>
        </p:spPr>
        <p:txBody>
          <a:bodyPr wrap="square" rtlCol="0" anchor="ctr"/>
          <a:lstStyle/>
          <a:p>
            <a:pPr indent="0" marL="0">
              <a:buNone/>
            </a:pPr>
            <a:r>
              <a:rPr lang="en-US" sz="1500" dirty="0">
                <a:solidFill>
                  <a:srgbClr val="3F4A56"/>
                </a:solidFill>
                <a:latin typeface="Calibri" pitchFamily="34" charset="0"/>
                <a:ea typeface="Calibri" pitchFamily="34" charset="-122"/>
                <a:cs typeface="Calibri" pitchFamily="34" charset="-120"/>
              </a:rPr>
              <a:t>A fourth override would not be unprecedented, and some years it is the honest answer. The question is what is still on the table before you get there.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THE PROPOSAL</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Five measures, none of them a service cut</a:t>
            </a:r>
            <a:endParaRPr lang="en-US" sz="3400" dirty="0"/>
          </a:p>
        </p:txBody>
      </p:sp>
      <p:sp>
        <p:nvSpPr>
          <p:cNvPr id="4" name="Shape 2"/>
          <p:cNvSpPr/>
          <p:nvPr/>
        </p:nvSpPr>
        <p:spPr>
          <a:xfrm>
            <a:off x="548640" y="1783080"/>
            <a:ext cx="2066544" cy="3200400"/>
          </a:xfrm>
          <a:prstGeom prst="roundRect">
            <a:avLst>
              <a:gd name="adj" fmla="val 3540"/>
            </a:avLst>
          </a:prstGeom>
          <a:solidFill>
            <a:srgbClr val="FFFFFF"/>
          </a:solidFill>
          <a:ln w="12700">
            <a:solidFill>
              <a:srgbClr val="D8E0E7"/>
            </a:solidFill>
            <a:prstDash val="solid"/>
          </a:ln>
        </p:spPr>
      </p:sp>
      <p:sp>
        <p:nvSpPr>
          <p:cNvPr id="5" name="Shape 3"/>
          <p:cNvSpPr/>
          <p:nvPr/>
        </p:nvSpPr>
        <p:spPr>
          <a:xfrm>
            <a:off x="694944" y="1938528"/>
            <a:ext cx="457200" cy="457200"/>
          </a:xfrm>
          <a:prstGeom prst="ellipse">
            <a:avLst/>
          </a:prstGeom>
          <a:solidFill>
            <a:srgbClr val="2E6FB7"/>
          </a:solidFill>
          <a:ln/>
        </p:spPr>
      </p:sp>
      <p:sp>
        <p:nvSpPr>
          <p:cNvPr id="6" name="Text 4"/>
          <p:cNvSpPr/>
          <p:nvPr/>
        </p:nvSpPr>
        <p:spPr>
          <a:xfrm>
            <a:off x="694944" y="19385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694944" y="2514600"/>
            <a:ext cx="1773936" cy="86868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Keep the retirement savings</a:t>
            </a:r>
            <a:endParaRPr lang="en-US" sz="1250" dirty="0"/>
          </a:p>
          <a:p>
            <a:pPr indent="0" marL="0">
              <a:buNone/>
            </a:pPr>
            <a:r>
              <a:rPr lang="en-US" sz="1250" b="1" dirty="0">
                <a:solidFill>
                  <a:srgbClr val="1F2933"/>
                </a:solidFill>
                <a:latin typeface="Calibri" pitchFamily="34" charset="0"/>
                <a:ea typeface="Calibri" pitchFamily="34" charset="-122"/>
                <a:cs typeface="Calibri" pitchFamily="34" charset="-120"/>
              </a:rPr>
              <a:t>you already voted for</a:t>
            </a:r>
            <a:endParaRPr lang="en-US" sz="1250" dirty="0"/>
          </a:p>
        </p:txBody>
      </p:sp>
      <p:sp>
        <p:nvSpPr>
          <p:cNvPr id="8" name="Text 6"/>
          <p:cNvSpPr/>
          <p:nvPr/>
        </p:nvSpPr>
        <p:spPr>
          <a:xfrm>
            <a:off x="694944" y="3456432"/>
            <a:ext cx="1773936" cy="457200"/>
          </a:xfrm>
          <a:prstGeom prst="rect">
            <a:avLst/>
          </a:prstGeom>
          <a:noFill/>
          <a:ln/>
        </p:spPr>
        <p:txBody>
          <a:bodyPr wrap="square" rtlCol="0" anchor="ctr"/>
          <a:lstStyle/>
          <a:p>
            <a:pPr indent="0" marL="0">
              <a:buNone/>
            </a:pPr>
            <a:r>
              <a:rPr lang="en-US" sz="1900" b="1" dirty="0">
                <a:solidFill>
                  <a:srgbClr val="2E6FB7"/>
                </a:solidFill>
                <a:latin typeface="Cambria" pitchFamily="34" charset="0"/>
                <a:ea typeface="Cambria" pitchFamily="34" charset="-122"/>
                <a:cs typeface="Cambria" pitchFamily="34" charset="-120"/>
              </a:rPr>
              <a:t>$500K–$800K</a:t>
            </a:r>
            <a:endParaRPr lang="en-US" sz="1900" dirty="0"/>
          </a:p>
        </p:txBody>
      </p:sp>
      <p:sp>
        <p:nvSpPr>
          <p:cNvPr id="9" name="Text 7"/>
          <p:cNvSpPr/>
          <p:nvPr/>
        </p:nvSpPr>
        <p:spPr>
          <a:xfrm>
            <a:off x="694944" y="3977640"/>
            <a:ext cx="1773936" cy="822960"/>
          </a:xfrm>
          <a:prstGeom prst="rect">
            <a:avLst/>
          </a:prstGeom>
          <a:noFill/>
          <a:ln/>
        </p:spPr>
        <p:txBody>
          <a:bodyPr wrap="square" rtlCol="0" anchor="t"/>
          <a:lstStyle/>
          <a:p>
            <a:pPr indent="0" marL="0">
              <a:buNone/>
            </a:pPr>
            <a:r>
              <a:rPr lang="en-US" sz="1100" dirty="0">
                <a:solidFill>
                  <a:srgbClr val="6B7A8A"/>
                </a:solidFill>
                <a:latin typeface="Calibri" pitchFamily="34" charset="0"/>
                <a:ea typeface="Calibri" pitchFamily="34" charset="-122"/>
                <a:cs typeface="Calibri" pitchFamily="34" charset="-120"/>
              </a:rPr>
              <a:t>Already adopted 5–0 in July</a:t>
            </a:r>
            <a:endParaRPr lang="en-US" sz="1100" dirty="0"/>
          </a:p>
        </p:txBody>
      </p:sp>
      <p:sp>
        <p:nvSpPr>
          <p:cNvPr id="10" name="Shape 8"/>
          <p:cNvSpPr/>
          <p:nvPr/>
        </p:nvSpPr>
        <p:spPr>
          <a:xfrm>
            <a:off x="2798064" y="1783080"/>
            <a:ext cx="2066544" cy="3200400"/>
          </a:xfrm>
          <a:prstGeom prst="roundRect">
            <a:avLst>
              <a:gd name="adj" fmla="val 3540"/>
            </a:avLst>
          </a:prstGeom>
          <a:solidFill>
            <a:srgbClr val="FFFFFF"/>
          </a:solidFill>
          <a:ln w="12700">
            <a:solidFill>
              <a:srgbClr val="D8E0E7"/>
            </a:solidFill>
            <a:prstDash val="solid"/>
          </a:ln>
        </p:spPr>
      </p:sp>
      <p:sp>
        <p:nvSpPr>
          <p:cNvPr id="11" name="Shape 9"/>
          <p:cNvSpPr/>
          <p:nvPr/>
        </p:nvSpPr>
        <p:spPr>
          <a:xfrm>
            <a:off x="2944368" y="1938528"/>
            <a:ext cx="457200" cy="457200"/>
          </a:xfrm>
          <a:prstGeom prst="ellipse">
            <a:avLst/>
          </a:prstGeom>
          <a:solidFill>
            <a:srgbClr val="B98416"/>
          </a:solidFill>
          <a:ln/>
        </p:spPr>
      </p:sp>
      <p:sp>
        <p:nvSpPr>
          <p:cNvPr id="12" name="Text 10"/>
          <p:cNvSpPr/>
          <p:nvPr/>
        </p:nvSpPr>
        <p:spPr>
          <a:xfrm>
            <a:off x="2944368" y="19385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2944368" y="2514600"/>
            <a:ext cx="1773936" cy="86868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Six changes the Board</a:t>
            </a:r>
            <a:endParaRPr lang="en-US" sz="1250" dirty="0"/>
          </a:p>
          <a:p>
            <a:pPr indent="0" marL="0">
              <a:buNone/>
            </a:pPr>
            <a:r>
              <a:rPr lang="en-US" sz="1250" b="1" dirty="0">
                <a:solidFill>
                  <a:srgbClr val="1F2933"/>
                </a:solidFill>
                <a:latin typeface="Calibri" pitchFamily="34" charset="0"/>
                <a:ea typeface="Calibri" pitchFamily="34" charset="-122"/>
                <a:cs typeface="Calibri" pitchFamily="34" charset="-120"/>
              </a:rPr>
              <a:t>can make on its own</a:t>
            </a:r>
            <a:endParaRPr lang="en-US" sz="1250" dirty="0"/>
          </a:p>
        </p:txBody>
      </p:sp>
      <p:sp>
        <p:nvSpPr>
          <p:cNvPr id="14" name="Text 12"/>
          <p:cNvSpPr/>
          <p:nvPr/>
        </p:nvSpPr>
        <p:spPr>
          <a:xfrm>
            <a:off x="2944368" y="3456432"/>
            <a:ext cx="1773936" cy="457200"/>
          </a:xfrm>
          <a:prstGeom prst="rect">
            <a:avLst/>
          </a:prstGeom>
          <a:noFill/>
          <a:ln/>
        </p:spPr>
        <p:txBody>
          <a:bodyPr wrap="square" rtlCol="0" anchor="ctr"/>
          <a:lstStyle/>
          <a:p>
            <a:pPr indent="0" marL="0">
              <a:buNone/>
            </a:pPr>
            <a:r>
              <a:rPr lang="en-US" sz="1900" b="1" dirty="0">
                <a:solidFill>
                  <a:srgbClr val="B98416"/>
                </a:solidFill>
                <a:latin typeface="Cambria" pitchFamily="34" charset="0"/>
                <a:ea typeface="Cambria" pitchFamily="34" charset="-122"/>
                <a:cs typeface="Cambria" pitchFamily="34" charset="-120"/>
              </a:rPr>
              <a:t>$640,321</a:t>
            </a:r>
            <a:endParaRPr lang="en-US" sz="1900" dirty="0"/>
          </a:p>
        </p:txBody>
      </p:sp>
      <p:sp>
        <p:nvSpPr>
          <p:cNvPr id="15" name="Text 13"/>
          <p:cNvSpPr/>
          <p:nvPr/>
        </p:nvSpPr>
        <p:spPr>
          <a:xfrm>
            <a:off x="2944368" y="3977640"/>
            <a:ext cx="1773936" cy="822960"/>
          </a:xfrm>
          <a:prstGeom prst="rect">
            <a:avLst/>
          </a:prstGeom>
          <a:noFill/>
          <a:ln/>
        </p:spPr>
        <p:txBody>
          <a:bodyPr wrap="square" rtlCol="0" anchor="t"/>
          <a:lstStyle/>
          <a:p>
            <a:pPr indent="0" marL="0">
              <a:buNone/>
            </a:pPr>
            <a:r>
              <a:rPr lang="en-US" sz="1100" dirty="0">
                <a:solidFill>
                  <a:srgbClr val="6B7A8A"/>
                </a:solidFill>
                <a:latin typeface="Calibri" pitchFamily="34" charset="0"/>
                <a:ea typeface="Calibri" pitchFamily="34" charset="-122"/>
                <a:cs typeface="Calibri" pitchFamily="34" charset="-120"/>
              </a:rPr>
              <a:t>Board resolution, no bargaining</a:t>
            </a:r>
            <a:endParaRPr lang="en-US" sz="1100" dirty="0"/>
          </a:p>
        </p:txBody>
      </p:sp>
      <p:sp>
        <p:nvSpPr>
          <p:cNvPr id="16" name="Shape 14"/>
          <p:cNvSpPr/>
          <p:nvPr/>
        </p:nvSpPr>
        <p:spPr>
          <a:xfrm>
            <a:off x="5047488" y="1783080"/>
            <a:ext cx="2066544" cy="3200400"/>
          </a:xfrm>
          <a:prstGeom prst="roundRect">
            <a:avLst>
              <a:gd name="adj" fmla="val 3540"/>
            </a:avLst>
          </a:prstGeom>
          <a:solidFill>
            <a:srgbClr val="FFFFFF"/>
          </a:solidFill>
          <a:ln w="12700">
            <a:solidFill>
              <a:srgbClr val="D8E0E7"/>
            </a:solidFill>
            <a:prstDash val="solid"/>
          </a:ln>
        </p:spPr>
      </p:sp>
      <p:sp>
        <p:nvSpPr>
          <p:cNvPr id="17" name="Shape 15"/>
          <p:cNvSpPr/>
          <p:nvPr/>
        </p:nvSpPr>
        <p:spPr>
          <a:xfrm>
            <a:off x="5193792" y="1938528"/>
            <a:ext cx="457200" cy="457200"/>
          </a:xfrm>
          <a:prstGeom prst="ellipse">
            <a:avLst/>
          </a:prstGeom>
          <a:solidFill>
            <a:srgbClr val="109184"/>
          </a:solidFill>
          <a:ln/>
        </p:spPr>
      </p:sp>
      <p:sp>
        <p:nvSpPr>
          <p:cNvPr id="18" name="Text 16"/>
          <p:cNvSpPr/>
          <p:nvPr/>
        </p:nvSpPr>
        <p:spPr>
          <a:xfrm>
            <a:off x="5193792" y="19385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5193792" y="2514600"/>
            <a:ext cx="1773936" cy="86868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Make seven departments</a:t>
            </a:r>
            <a:endParaRPr lang="en-US" sz="1250" dirty="0"/>
          </a:p>
          <a:p>
            <a:pPr indent="0" marL="0">
              <a:buNone/>
            </a:pPr>
            <a:r>
              <a:rPr lang="en-US" sz="1250" b="1" dirty="0">
                <a:solidFill>
                  <a:srgbClr val="1F2933"/>
                </a:solidFill>
                <a:latin typeface="Calibri" pitchFamily="34" charset="0"/>
                <a:ea typeface="Calibri" pitchFamily="34" charset="-122"/>
                <a:cs typeface="Calibri" pitchFamily="34" charset="-120"/>
              </a:rPr>
              <a:t>explain a jump</a:t>
            </a:r>
            <a:endParaRPr lang="en-US" sz="1250" dirty="0"/>
          </a:p>
        </p:txBody>
      </p:sp>
      <p:sp>
        <p:nvSpPr>
          <p:cNvPr id="20" name="Text 18"/>
          <p:cNvSpPr/>
          <p:nvPr/>
        </p:nvSpPr>
        <p:spPr>
          <a:xfrm>
            <a:off x="5193792" y="3456432"/>
            <a:ext cx="1773936" cy="457200"/>
          </a:xfrm>
          <a:prstGeom prst="rect">
            <a:avLst/>
          </a:prstGeom>
          <a:noFill/>
          <a:ln/>
        </p:spPr>
        <p:txBody>
          <a:bodyPr wrap="square" rtlCol="0" anchor="ctr"/>
          <a:lstStyle/>
          <a:p>
            <a:pPr indent="0" marL="0">
              <a:buNone/>
            </a:pPr>
            <a:r>
              <a:rPr lang="en-US" sz="1900" b="1" dirty="0">
                <a:solidFill>
                  <a:srgbClr val="109184"/>
                </a:solidFill>
                <a:latin typeface="Cambria" pitchFamily="34" charset="0"/>
                <a:ea typeface="Cambria" pitchFamily="34" charset="-122"/>
                <a:cs typeface="Cambria" pitchFamily="34" charset="-120"/>
              </a:rPr>
              <a:t>$627,400</a:t>
            </a:r>
            <a:endParaRPr lang="en-US" sz="1900" dirty="0"/>
          </a:p>
        </p:txBody>
      </p:sp>
      <p:sp>
        <p:nvSpPr>
          <p:cNvPr id="21" name="Text 19"/>
          <p:cNvSpPr/>
          <p:nvPr/>
        </p:nvSpPr>
        <p:spPr>
          <a:xfrm>
            <a:off x="5193792" y="3977640"/>
            <a:ext cx="1773936" cy="822960"/>
          </a:xfrm>
          <a:prstGeom prst="rect">
            <a:avLst/>
          </a:prstGeom>
          <a:noFill/>
          <a:ln/>
        </p:spPr>
        <p:txBody>
          <a:bodyPr wrap="square" rtlCol="0" anchor="t"/>
          <a:lstStyle/>
          <a:p>
            <a:pPr indent="0" marL="0">
              <a:buNone/>
            </a:pPr>
            <a:r>
              <a:rPr lang="en-US" sz="1100" dirty="0">
                <a:solidFill>
                  <a:srgbClr val="6B7A8A"/>
                </a:solidFill>
                <a:latin typeface="Calibri" pitchFamily="34" charset="0"/>
                <a:ea typeface="Calibri" pitchFamily="34" charset="-122"/>
                <a:cs typeface="Calibri" pitchFamily="34" charset="-120"/>
              </a:rPr>
              <a:t>Written justification</a:t>
            </a:r>
            <a:endParaRPr lang="en-US" sz="1100" dirty="0"/>
          </a:p>
        </p:txBody>
      </p:sp>
      <p:sp>
        <p:nvSpPr>
          <p:cNvPr id="22" name="Shape 20"/>
          <p:cNvSpPr/>
          <p:nvPr/>
        </p:nvSpPr>
        <p:spPr>
          <a:xfrm>
            <a:off x="7296912" y="1783080"/>
            <a:ext cx="2066544" cy="3200400"/>
          </a:xfrm>
          <a:prstGeom prst="roundRect">
            <a:avLst>
              <a:gd name="adj" fmla="val 3540"/>
            </a:avLst>
          </a:prstGeom>
          <a:solidFill>
            <a:srgbClr val="FFFFFF"/>
          </a:solidFill>
          <a:ln w="12700">
            <a:solidFill>
              <a:srgbClr val="D8E0E7"/>
            </a:solidFill>
            <a:prstDash val="solid"/>
          </a:ln>
        </p:spPr>
      </p:sp>
      <p:sp>
        <p:nvSpPr>
          <p:cNvPr id="23" name="Shape 21"/>
          <p:cNvSpPr/>
          <p:nvPr/>
        </p:nvSpPr>
        <p:spPr>
          <a:xfrm>
            <a:off x="7443216" y="1938528"/>
            <a:ext cx="457200" cy="457200"/>
          </a:xfrm>
          <a:prstGeom prst="ellipse">
            <a:avLst/>
          </a:prstGeom>
          <a:solidFill>
            <a:srgbClr val="BF4038"/>
          </a:solidFill>
          <a:ln/>
        </p:spPr>
      </p:sp>
      <p:sp>
        <p:nvSpPr>
          <p:cNvPr id="24" name="Text 22"/>
          <p:cNvSpPr/>
          <p:nvPr/>
        </p:nvSpPr>
        <p:spPr>
          <a:xfrm>
            <a:off x="7443216" y="19385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7443216" y="2514600"/>
            <a:ext cx="1773936" cy="86868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Bring padded lines back to</a:t>
            </a:r>
            <a:endParaRPr lang="en-US" sz="1250" dirty="0"/>
          </a:p>
          <a:p>
            <a:pPr indent="0" marL="0">
              <a:buNone/>
            </a:pPr>
            <a:r>
              <a:rPr lang="en-US" sz="1250" b="1" dirty="0">
                <a:solidFill>
                  <a:srgbClr val="1F2933"/>
                </a:solidFill>
                <a:latin typeface="Calibri" pitchFamily="34" charset="0"/>
                <a:ea typeface="Calibri" pitchFamily="34" charset="-122"/>
                <a:cs typeface="Calibri" pitchFamily="34" charset="-120"/>
              </a:rPr>
              <a:t>what they actually spend</a:t>
            </a:r>
            <a:endParaRPr lang="en-US" sz="1250" dirty="0"/>
          </a:p>
        </p:txBody>
      </p:sp>
      <p:sp>
        <p:nvSpPr>
          <p:cNvPr id="26" name="Text 24"/>
          <p:cNvSpPr/>
          <p:nvPr/>
        </p:nvSpPr>
        <p:spPr>
          <a:xfrm>
            <a:off x="7443216" y="3456432"/>
            <a:ext cx="1773936" cy="457200"/>
          </a:xfrm>
          <a:prstGeom prst="rect">
            <a:avLst/>
          </a:prstGeom>
          <a:noFill/>
          <a:ln/>
        </p:spPr>
        <p:txBody>
          <a:bodyPr wrap="square" rtlCol="0" anchor="ctr"/>
          <a:lstStyle/>
          <a:p>
            <a:pPr indent="0" marL="0">
              <a:buNone/>
            </a:pPr>
            <a:r>
              <a:rPr lang="en-US" sz="1900" b="1" dirty="0">
                <a:solidFill>
                  <a:srgbClr val="BF4038"/>
                </a:solidFill>
                <a:latin typeface="Cambria" pitchFamily="34" charset="0"/>
                <a:ea typeface="Cambria" pitchFamily="34" charset="-122"/>
                <a:cs typeface="Cambria" pitchFamily="34" charset="-120"/>
              </a:rPr>
              <a:t>$828,210</a:t>
            </a:r>
            <a:endParaRPr lang="en-US" sz="1900" dirty="0"/>
          </a:p>
        </p:txBody>
      </p:sp>
      <p:sp>
        <p:nvSpPr>
          <p:cNvPr id="27" name="Text 25"/>
          <p:cNvSpPr/>
          <p:nvPr/>
        </p:nvSpPr>
        <p:spPr>
          <a:xfrm>
            <a:off x="7443216" y="3977640"/>
            <a:ext cx="1773936" cy="822960"/>
          </a:xfrm>
          <a:prstGeom prst="rect">
            <a:avLst/>
          </a:prstGeom>
          <a:noFill/>
          <a:ln/>
        </p:spPr>
        <p:txBody>
          <a:bodyPr wrap="square" rtlCol="0" anchor="t"/>
          <a:lstStyle/>
          <a:p>
            <a:pPr indent="0" marL="0">
              <a:buNone/>
            </a:pPr>
            <a:r>
              <a:rPr lang="en-US" sz="1100" dirty="0">
                <a:solidFill>
                  <a:srgbClr val="6B7A8A"/>
                </a:solidFill>
                <a:latin typeface="Calibri" pitchFamily="34" charset="0"/>
                <a:ea typeface="Calibri" pitchFamily="34" charset="-122"/>
                <a:cs typeface="Calibri" pitchFamily="34" charset="-120"/>
              </a:rPr>
              <a:t>20 firm lines of 52</a:t>
            </a:r>
            <a:endParaRPr lang="en-US" sz="1100" dirty="0"/>
          </a:p>
        </p:txBody>
      </p:sp>
      <p:sp>
        <p:nvSpPr>
          <p:cNvPr id="28" name="Shape 26"/>
          <p:cNvSpPr/>
          <p:nvPr/>
        </p:nvSpPr>
        <p:spPr>
          <a:xfrm>
            <a:off x="9546336" y="1783080"/>
            <a:ext cx="2066544" cy="3200400"/>
          </a:xfrm>
          <a:prstGeom prst="roundRect">
            <a:avLst>
              <a:gd name="adj" fmla="val 3540"/>
            </a:avLst>
          </a:prstGeom>
          <a:solidFill>
            <a:srgbClr val="FFFFFF"/>
          </a:solidFill>
          <a:ln w="12700">
            <a:solidFill>
              <a:srgbClr val="D8E0E7"/>
            </a:solidFill>
            <a:prstDash val="solid"/>
          </a:ln>
        </p:spPr>
      </p:sp>
      <p:sp>
        <p:nvSpPr>
          <p:cNvPr id="29" name="Shape 27"/>
          <p:cNvSpPr/>
          <p:nvPr/>
        </p:nvSpPr>
        <p:spPr>
          <a:xfrm>
            <a:off x="9692640" y="1938528"/>
            <a:ext cx="457200" cy="457200"/>
          </a:xfrm>
          <a:prstGeom prst="ellipse">
            <a:avLst/>
          </a:prstGeom>
          <a:solidFill>
            <a:srgbClr val="8158CC"/>
          </a:solidFill>
          <a:ln/>
        </p:spPr>
      </p:sp>
      <p:sp>
        <p:nvSpPr>
          <p:cNvPr id="30" name="Text 28"/>
          <p:cNvSpPr/>
          <p:nvPr/>
        </p:nvSpPr>
        <p:spPr>
          <a:xfrm>
            <a:off x="9692640" y="19385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1" name="Text 29"/>
          <p:cNvSpPr/>
          <p:nvPr/>
        </p:nvSpPr>
        <p:spPr>
          <a:xfrm>
            <a:off x="9692640" y="2514600"/>
            <a:ext cx="1773936" cy="86868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Use the pension exclusion</a:t>
            </a:r>
            <a:endParaRPr lang="en-US" sz="1250" dirty="0"/>
          </a:p>
          <a:p>
            <a:pPr indent="0" marL="0">
              <a:buNone/>
            </a:pPr>
            <a:r>
              <a:rPr lang="en-US" sz="1250" b="1" dirty="0">
                <a:solidFill>
                  <a:srgbClr val="1F2933"/>
                </a:solidFill>
                <a:latin typeface="Calibri" pitchFamily="34" charset="0"/>
                <a:ea typeface="Calibri" pitchFamily="34" charset="-122"/>
                <a:cs typeface="Calibri" pitchFamily="34" charset="-120"/>
              </a:rPr>
              <a:t>the cap already gives you</a:t>
            </a:r>
            <a:endParaRPr lang="en-US" sz="1250" dirty="0"/>
          </a:p>
        </p:txBody>
      </p:sp>
      <p:sp>
        <p:nvSpPr>
          <p:cNvPr id="32" name="Text 30"/>
          <p:cNvSpPr/>
          <p:nvPr/>
        </p:nvSpPr>
        <p:spPr>
          <a:xfrm>
            <a:off x="9692640" y="3456432"/>
            <a:ext cx="1773936" cy="457200"/>
          </a:xfrm>
          <a:prstGeom prst="rect">
            <a:avLst/>
          </a:prstGeom>
          <a:noFill/>
          <a:ln/>
        </p:spPr>
        <p:txBody>
          <a:bodyPr wrap="square" rtlCol="0" anchor="ctr"/>
          <a:lstStyle/>
          <a:p>
            <a:pPr indent="0" marL="0">
              <a:buNone/>
            </a:pPr>
            <a:r>
              <a:rPr lang="en-US" sz="1900" b="1" dirty="0">
                <a:solidFill>
                  <a:srgbClr val="8158CC"/>
                </a:solidFill>
                <a:latin typeface="Cambria" pitchFamily="34" charset="0"/>
                <a:ea typeface="Cambria" pitchFamily="34" charset="-122"/>
                <a:cs typeface="Cambria" pitchFamily="34" charset="-120"/>
              </a:rPr>
              <a:t>$137,642</a:t>
            </a:r>
            <a:endParaRPr lang="en-US" sz="1900" dirty="0"/>
          </a:p>
        </p:txBody>
      </p:sp>
      <p:sp>
        <p:nvSpPr>
          <p:cNvPr id="33" name="Text 31"/>
          <p:cNvSpPr/>
          <p:nvPr/>
        </p:nvSpPr>
        <p:spPr>
          <a:xfrm>
            <a:off x="9692640" y="3977640"/>
            <a:ext cx="1773936" cy="822960"/>
          </a:xfrm>
          <a:prstGeom prst="rect">
            <a:avLst/>
          </a:prstGeom>
          <a:noFill/>
          <a:ln/>
        </p:spPr>
        <p:txBody>
          <a:bodyPr wrap="square" rtlCol="0" anchor="t"/>
          <a:lstStyle/>
          <a:p>
            <a:pPr indent="0" marL="0">
              <a:buNone/>
            </a:pPr>
            <a:r>
              <a:rPr lang="en-US" sz="1100" dirty="0">
                <a:solidFill>
                  <a:srgbClr val="6B7A8A"/>
                </a:solidFill>
                <a:latin typeface="Calibri" pitchFamily="34" charset="0"/>
                <a:ea typeface="Calibri" pitchFamily="34" charset="-122"/>
                <a:cs typeface="Calibri" pitchFamily="34" charset="-120"/>
              </a:rPr>
              <a:t>Costs nothing</a:t>
            </a:r>
            <a:endParaRPr lang="en-US" sz="1100" dirty="0"/>
          </a:p>
        </p:txBody>
      </p:sp>
      <p:sp>
        <p:nvSpPr>
          <p:cNvPr id="34" name="Text 32"/>
          <p:cNvSpPr/>
          <p:nvPr/>
        </p:nvSpPr>
        <p:spPr>
          <a:xfrm>
            <a:off x="548640" y="5230368"/>
            <a:ext cx="11064240" cy="731520"/>
          </a:xfrm>
          <a:prstGeom prst="rect">
            <a:avLst/>
          </a:prstGeom>
          <a:noFill/>
          <a:ln/>
        </p:spPr>
        <p:txBody>
          <a:bodyPr wrap="square" rtlCol="0" anchor="t"/>
          <a:lstStyle/>
          <a:p>
            <a:pPr indent="0" marL="0">
              <a:buNone/>
            </a:pPr>
            <a:r>
              <a:rPr lang="en-US" sz="1700" dirty="0">
                <a:solidFill>
                  <a:srgbClr val="3F4A56"/>
                </a:solidFill>
                <a:latin typeface="Calibri" pitchFamily="34" charset="0"/>
                <a:ea typeface="Calibri" pitchFamily="34" charset="-122"/>
                <a:cs typeface="Calibri" pitchFamily="34" charset="-120"/>
              </a:rPr>
              <a:t>Together: </a:t>
            </a:r>
            <a:pPr indent="0" marL="0">
              <a:buNone/>
            </a:pPr>
            <a:r>
              <a:rPr lang="en-US" sz="1700" b="1" dirty="0">
                <a:solidFill>
                  <a:srgbClr val="1F2933"/>
                </a:solidFill>
                <a:latin typeface="Calibri" pitchFamily="34" charset="0"/>
                <a:ea typeface="Calibri" pitchFamily="34" charset="-122"/>
                <a:cs typeface="Calibri" pitchFamily="34" charset="-120"/>
              </a:rPr>
              <a:t>$2,733,573 to $3,033,573</a:t>
            </a:r>
            <a:pPr indent="0" marL="0">
              <a:buNone/>
            </a:pPr>
            <a:r>
              <a:rPr lang="en-US" sz="1700" dirty="0">
                <a:solidFill>
                  <a:srgbClr val="3F4A56"/>
                </a:solidFill>
                <a:latin typeface="Calibri" pitchFamily="34" charset="0"/>
                <a:ea typeface="Calibri" pitchFamily="34" charset="-122"/>
                <a:cs typeface="Calibri" pitchFamily="34" charset="-120"/>
              </a:rPr>
              <a:t>  —  they do not depend on each other, so any one can be taken and the rest left.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MEASURE 1</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Keep the retirement savings you already voted for</a:t>
            </a:r>
            <a:endParaRPr lang="en-US" sz="3400" dirty="0"/>
          </a:p>
        </p:txBody>
      </p:sp>
      <p:sp>
        <p:nvSpPr>
          <p:cNvPr id="4" name="Shape 2"/>
          <p:cNvSpPr/>
          <p:nvPr/>
        </p:nvSpPr>
        <p:spPr>
          <a:xfrm>
            <a:off x="548640" y="1783080"/>
            <a:ext cx="658368" cy="658368"/>
          </a:xfrm>
          <a:prstGeom prst="ellipse">
            <a:avLst/>
          </a:prstGeom>
          <a:solidFill>
            <a:srgbClr val="2E6FB7"/>
          </a:solidFill>
          <a:ln/>
        </p:spPr>
      </p:sp>
      <p:sp>
        <p:nvSpPr>
          <p:cNvPr id="5" name="Text 3"/>
          <p:cNvSpPr/>
          <p:nvPr/>
        </p:nvSpPr>
        <p:spPr>
          <a:xfrm>
            <a:off x="548640" y="1783080"/>
            <a:ext cx="658368" cy="65836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417320" y="1755648"/>
            <a:ext cx="5669280" cy="731520"/>
          </a:xfrm>
          <a:prstGeom prst="rect">
            <a:avLst/>
          </a:prstGeom>
          <a:noFill/>
          <a:ln/>
        </p:spPr>
        <p:txBody>
          <a:bodyPr wrap="square" rtlCol="0" anchor="ctr"/>
          <a:lstStyle/>
          <a:p>
            <a:pPr indent="0" marL="0">
              <a:buNone/>
            </a:pPr>
            <a:r>
              <a:rPr lang="en-US" sz="4000" b="1" dirty="0">
                <a:solidFill>
                  <a:srgbClr val="2E6FB7"/>
                </a:solidFill>
                <a:latin typeface="Cambria" pitchFamily="34" charset="0"/>
                <a:ea typeface="Cambria" pitchFamily="34" charset="-122"/>
                <a:cs typeface="Cambria" pitchFamily="34" charset="-120"/>
              </a:rPr>
              <a:t>$500,000 – $800,000</a:t>
            </a:r>
            <a:endParaRPr lang="en-US" sz="4000" dirty="0"/>
          </a:p>
        </p:txBody>
      </p:sp>
      <p:sp>
        <p:nvSpPr>
          <p:cNvPr id="7" name="Text 5"/>
          <p:cNvSpPr/>
          <p:nvPr/>
        </p:nvSpPr>
        <p:spPr>
          <a:xfrm>
            <a:off x="1463040" y="2450592"/>
            <a:ext cx="5669280" cy="320040"/>
          </a:xfrm>
          <a:prstGeom prst="rect">
            <a:avLst/>
          </a:prstGeom>
          <a:noFill/>
          <a:ln/>
        </p:spPr>
        <p:txBody>
          <a:bodyPr wrap="square" rtlCol="0" anchor="ctr"/>
          <a:lstStyle/>
          <a:p>
            <a:pPr indent="0" marL="0">
              <a:buNone/>
            </a:pPr>
            <a:r>
              <a:rPr lang="en-US" sz="1400" dirty="0">
                <a:solidFill>
                  <a:srgbClr val="6B7A8A"/>
                </a:solidFill>
                <a:latin typeface="Calibri" pitchFamily="34" charset="0"/>
                <a:ea typeface="Calibri" pitchFamily="34" charset="-122"/>
                <a:cs typeface="Calibri" pitchFamily="34" charset="-120"/>
              </a:rPr>
              <a:t>recurring — the Town’s own projection</a:t>
            </a:r>
            <a:endParaRPr lang="en-US" sz="1400" dirty="0"/>
          </a:p>
        </p:txBody>
      </p:sp>
      <p:sp>
        <p:nvSpPr>
          <p:cNvPr id="8" name="Text 6"/>
          <p:cNvSpPr/>
          <p:nvPr/>
        </p:nvSpPr>
        <p:spPr>
          <a:xfrm>
            <a:off x="566928" y="3108960"/>
            <a:ext cx="1737360" cy="365760"/>
          </a:xfrm>
          <a:prstGeom prst="rect">
            <a:avLst/>
          </a:prstGeom>
          <a:noFill/>
          <a:ln/>
        </p:spPr>
        <p:txBody>
          <a:bodyPr wrap="square" rtlCol="0" anchor="ctr"/>
          <a:lstStyle/>
          <a:p>
            <a:pPr indent="0" marL="0">
              <a:buNone/>
            </a:pPr>
            <a:r>
              <a:rPr lang="en-US" sz="1250" b="1" dirty="0">
                <a:solidFill>
                  <a:srgbClr val="6B7A8A"/>
                </a:solidFill>
                <a:latin typeface="Calibri" pitchFamily="34" charset="0"/>
                <a:ea typeface="Calibri" pitchFamily="34" charset="-122"/>
                <a:cs typeface="Calibri" pitchFamily="34" charset="-120"/>
              </a:rPr>
              <a:t>Status</a:t>
            </a:r>
            <a:endParaRPr lang="en-US" sz="1250" dirty="0"/>
          </a:p>
        </p:txBody>
      </p:sp>
      <p:sp>
        <p:nvSpPr>
          <p:cNvPr id="9" name="Text 7"/>
          <p:cNvSpPr/>
          <p:nvPr/>
        </p:nvSpPr>
        <p:spPr>
          <a:xfrm>
            <a:off x="2377440" y="3108960"/>
            <a:ext cx="5669280" cy="502920"/>
          </a:xfrm>
          <a:prstGeom prst="rect">
            <a:avLst/>
          </a:prstGeom>
          <a:noFill/>
          <a:ln/>
        </p:spPr>
        <p:txBody>
          <a:bodyPr wrap="square" rtlCol="0" anchor="ctr"/>
          <a:lstStyle/>
          <a:p>
            <a:pPr indent="0" marL="0">
              <a:buNone/>
            </a:pPr>
            <a:r>
              <a:rPr lang="en-US" sz="1350" dirty="0">
                <a:solidFill>
                  <a:srgbClr val="1F2933"/>
                </a:solidFill>
                <a:latin typeface="Calibri" pitchFamily="34" charset="0"/>
                <a:ea typeface="Calibri" pitchFamily="34" charset="-122"/>
                <a:cs typeface="Calibri" pitchFamily="34" charset="-120"/>
              </a:rPr>
              <a:t>Already adopted. Resolutions 2026-678, -679 and -680, unanimous, July 7</a:t>
            </a:r>
            <a:endParaRPr lang="en-US" sz="1350" dirty="0"/>
          </a:p>
        </p:txBody>
      </p:sp>
      <p:sp>
        <p:nvSpPr>
          <p:cNvPr id="10" name="Text 8"/>
          <p:cNvSpPr/>
          <p:nvPr/>
        </p:nvSpPr>
        <p:spPr>
          <a:xfrm>
            <a:off x="566928" y="3675888"/>
            <a:ext cx="1737360" cy="365760"/>
          </a:xfrm>
          <a:prstGeom prst="rect">
            <a:avLst/>
          </a:prstGeom>
          <a:noFill/>
          <a:ln/>
        </p:spPr>
        <p:txBody>
          <a:bodyPr wrap="square" rtlCol="0" anchor="ctr"/>
          <a:lstStyle/>
          <a:p>
            <a:pPr indent="0" marL="0">
              <a:buNone/>
            </a:pPr>
            <a:r>
              <a:rPr lang="en-US" sz="1250" b="1" dirty="0">
                <a:solidFill>
                  <a:srgbClr val="6B7A8A"/>
                </a:solidFill>
                <a:latin typeface="Calibri" pitchFamily="34" charset="0"/>
                <a:ea typeface="Calibri" pitchFamily="34" charset="-122"/>
                <a:cs typeface="Calibri" pitchFamily="34" charset="-120"/>
              </a:rPr>
              <a:t>Who it covers</a:t>
            </a:r>
            <a:endParaRPr lang="en-US" sz="1250" dirty="0"/>
          </a:p>
        </p:txBody>
      </p:sp>
      <p:sp>
        <p:nvSpPr>
          <p:cNvPr id="11" name="Text 9"/>
          <p:cNvSpPr/>
          <p:nvPr/>
        </p:nvSpPr>
        <p:spPr>
          <a:xfrm>
            <a:off x="2377440" y="3675888"/>
            <a:ext cx="5669280" cy="502920"/>
          </a:xfrm>
          <a:prstGeom prst="rect">
            <a:avLst/>
          </a:prstGeom>
          <a:noFill/>
          <a:ln/>
        </p:spPr>
        <p:txBody>
          <a:bodyPr wrap="square" rtlCol="0" anchor="ctr"/>
          <a:lstStyle/>
          <a:p>
            <a:pPr indent="0" marL="0">
              <a:buNone/>
            </a:pPr>
            <a:r>
              <a:rPr lang="en-US" sz="1350" dirty="0">
                <a:solidFill>
                  <a:srgbClr val="1F2933"/>
                </a:solidFill>
                <a:latin typeface="Calibri" pitchFamily="34" charset="0"/>
                <a:ea typeface="Calibri" pitchFamily="34" charset="-122"/>
                <a:cs typeface="Calibri" pitchFamily="34" charset="-120"/>
              </a:rPr>
              <a:t>53 eligible employees across CSEA, PBA and SOA</a:t>
            </a:r>
            <a:endParaRPr lang="en-US" sz="1350" dirty="0"/>
          </a:p>
        </p:txBody>
      </p:sp>
      <p:sp>
        <p:nvSpPr>
          <p:cNvPr id="12" name="Text 10"/>
          <p:cNvSpPr/>
          <p:nvPr/>
        </p:nvSpPr>
        <p:spPr>
          <a:xfrm>
            <a:off x="566928" y="4242816"/>
            <a:ext cx="1737360" cy="365760"/>
          </a:xfrm>
          <a:prstGeom prst="rect">
            <a:avLst/>
          </a:prstGeom>
          <a:noFill/>
          <a:ln/>
        </p:spPr>
        <p:txBody>
          <a:bodyPr wrap="square" rtlCol="0" anchor="ctr"/>
          <a:lstStyle/>
          <a:p>
            <a:pPr indent="0" marL="0">
              <a:buNone/>
            </a:pPr>
            <a:r>
              <a:rPr lang="en-US" sz="1250" b="1" dirty="0">
                <a:solidFill>
                  <a:srgbClr val="6B7A8A"/>
                </a:solidFill>
                <a:latin typeface="Calibri" pitchFamily="34" charset="0"/>
                <a:ea typeface="Calibri" pitchFamily="34" charset="-122"/>
                <a:cs typeface="Calibri" pitchFamily="34" charset="-120"/>
              </a:rPr>
              <a:t>What it takes</a:t>
            </a:r>
            <a:endParaRPr lang="en-US" sz="1250" dirty="0"/>
          </a:p>
        </p:txBody>
      </p:sp>
      <p:sp>
        <p:nvSpPr>
          <p:cNvPr id="13" name="Text 11"/>
          <p:cNvSpPr/>
          <p:nvPr/>
        </p:nvSpPr>
        <p:spPr>
          <a:xfrm>
            <a:off x="2377440" y="4242816"/>
            <a:ext cx="5669280" cy="502920"/>
          </a:xfrm>
          <a:prstGeom prst="rect">
            <a:avLst/>
          </a:prstGeom>
          <a:noFill/>
          <a:ln/>
        </p:spPr>
        <p:txBody>
          <a:bodyPr wrap="square" rtlCol="0" anchor="ctr"/>
          <a:lstStyle/>
          <a:p>
            <a:pPr indent="0" marL="0">
              <a:buNone/>
            </a:pPr>
            <a:r>
              <a:rPr lang="en-US" sz="1350" dirty="0">
                <a:solidFill>
                  <a:srgbClr val="1F2933"/>
                </a:solidFill>
                <a:latin typeface="Calibri" pitchFamily="34" charset="0"/>
                <a:ea typeface="Calibri" pitchFamily="34" charset="-122"/>
                <a:cs typeface="Calibri" pitchFamily="34" charset="-120"/>
              </a:rPr>
              <a:t>A rule that nobody is refilled above entry step without a written reason</a:t>
            </a:r>
            <a:endParaRPr lang="en-US" sz="1350" dirty="0"/>
          </a:p>
        </p:txBody>
      </p:sp>
      <p:sp>
        <p:nvSpPr>
          <p:cNvPr id="14" name="Text 12"/>
          <p:cNvSpPr/>
          <p:nvPr/>
        </p:nvSpPr>
        <p:spPr>
          <a:xfrm>
            <a:off x="566928" y="4809744"/>
            <a:ext cx="1737360" cy="365760"/>
          </a:xfrm>
          <a:prstGeom prst="rect">
            <a:avLst/>
          </a:prstGeom>
          <a:noFill/>
          <a:ln/>
        </p:spPr>
        <p:txBody>
          <a:bodyPr wrap="square" rtlCol="0" anchor="ctr"/>
          <a:lstStyle/>
          <a:p>
            <a:pPr indent="0" marL="0">
              <a:buNone/>
            </a:pPr>
            <a:r>
              <a:rPr lang="en-US" sz="1250" b="1" dirty="0">
                <a:solidFill>
                  <a:srgbClr val="6B7A8A"/>
                </a:solidFill>
                <a:latin typeface="Calibri" pitchFamily="34" charset="0"/>
                <a:ea typeface="Calibri" pitchFamily="34" charset="-122"/>
                <a:cs typeface="Calibri" pitchFamily="34" charset="-120"/>
              </a:rPr>
              <a:t>Timing</a:t>
            </a:r>
            <a:endParaRPr lang="en-US" sz="1250" dirty="0"/>
          </a:p>
        </p:txBody>
      </p:sp>
      <p:sp>
        <p:nvSpPr>
          <p:cNvPr id="15" name="Text 13"/>
          <p:cNvSpPr/>
          <p:nvPr/>
        </p:nvSpPr>
        <p:spPr>
          <a:xfrm>
            <a:off x="2377440" y="4809744"/>
            <a:ext cx="5669280" cy="502920"/>
          </a:xfrm>
          <a:prstGeom prst="rect">
            <a:avLst/>
          </a:prstGeom>
          <a:noFill/>
          <a:ln/>
        </p:spPr>
        <p:txBody>
          <a:bodyPr wrap="square" rtlCol="0" anchor="ctr"/>
          <a:lstStyle/>
          <a:p>
            <a:pPr indent="0" marL="0">
              <a:buNone/>
            </a:pPr>
            <a:r>
              <a:rPr lang="en-US" sz="1350" dirty="0">
                <a:solidFill>
                  <a:srgbClr val="1F2933"/>
                </a:solidFill>
                <a:latin typeface="Calibri" pitchFamily="34" charset="0"/>
                <a:ea typeface="Calibri" pitchFamily="34" charset="-122"/>
                <a:cs typeface="Calibri" pitchFamily="34" charset="-120"/>
              </a:rPr>
              <a:t>Elections close Sept 1, retirements Oct 1 — the real count lands before the budget is filed</a:t>
            </a:r>
            <a:endParaRPr lang="en-US" sz="1350" dirty="0"/>
          </a:p>
        </p:txBody>
      </p:sp>
      <p:sp>
        <p:nvSpPr>
          <p:cNvPr id="16" name="Shape 14"/>
          <p:cNvSpPr/>
          <p:nvPr/>
        </p:nvSpPr>
        <p:spPr>
          <a:xfrm>
            <a:off x="8503920" y="1783080"/>
            <a:ext cx="3108960" cy="3566160"/>
          </a:xfrm>
          <a:prstGeom prst="roundRect">
            <a:avLst>
              <a:gd name="adj" fmla="val 2353"/>
            </a:avLst>
          </a:prstGeom>
          <a:solidFill>
            <a:srgbClr val="F0F6FF"/>
          </a:solidFill>
          <a:ln w="12700">
            <a:solidFill>
              <a:srgbClr val="D8E0E7"/>
            </a:solidFill>
            <a:prstDash val="solid"/>
          </a:ln>
        </p:spPr>
      </p:sp>
      <p:sp>
        <p:nvSpPr>
          <p:cNvPr id="17" name="Text 15"/>
          <p:cNvSpPr/>
          <p:nvPr/>
        </p:nvSpPr>
        <p:spPr>
          <a:xfrm>
            <a:off x="8778240" y="2011680"/>
            <a:ext cx="2651760" cy="320040"/>
          </a:xfrm>
          <a:prstGeom prst="rect">
            <a:avLst/>
          </a:prstGeom>
          <a:noFill/>
          <a:ln/>
        </p:spPr>
        <p:txBody>
          <a:bodyPr wrap="square" rtlCol="0" anchor="ctr"/>
          <a:lstStyle/>
          <a:p>
            <a:pPr indent="0" marL="0">
              <a:buNone/>
            </a:pPr>
            <a:r>
              <a:rPr lang="en-US" sz="2000" b="1" dirty="0">
                <a:solidFill>
                  <a:srgbClr val="2E6FB7"/>
                </a:solidFill>
                <a:latin typeface="Cambria" pitchFamily="34" charset="0"/>
                <a:ea typeface="Cambria" pitchFamily="34" charset="-122"/>
                <a:cs typeface="Cambria" pitchFamily="34" charset="-120"/>
              </a:rPr>
              <a:t>The catch</a:t>
            </a:r>
            <a:endParaRPr lang="en-US" sz="2000" dirty="0"/>
          </a:p>
        </p:txBody>
      </p:sp>
      <p:sp>
        <p:nvSpPr>
          <p:cNvPr id="18" name="Text 16"/>
          <p:cNvSpPr/>
          <p:nvPr/>
        </p:nvSpPr>
        <p:spPr>
          <a:xfrm>
            <a:off x="8778240" y="2423160"/>
            <a:ext cx="2606040" cy="2743200"/>
          </a:xfrm>
          <a:prstGeom prst="rect">
            <a:avLst/>
          </a:prstGeom>
          <a:noFill/>
          <a:ln/>
        </p:spPr>
        <p:txBody>
          <a:bodyPr wrap="square" rtlCol="0" anchor="t"/>
          <a:lstStyle/>
          <a:p>
            <a:pPr indent="0" marL="0">
              <a:buNone/>
            </a:pPr>
            <a:r>
              <a:rPr lang="en-US" sz="1300" dirty="0">
                <a:solidFill>
                  <a:srgbClr val="3F4A56"/>
                </a:solidFill>
                <a:latin typeface="Calibri" pitchFamily="34" charset="0"/>
                <a:ea typeface="Calibri" pitchFamily="34" charset="-122"/>
                <a:cs typeface="Calibri" pitchFamily="34" charset="-120"/>
              </a:rPr>
              <a:t>The money only shows up if the jobs come back cheaper.</a:t>
            </a:r>
            <a:endParaRPr lang="en-US" sz="1300" dirty="0"/>
          </a:p>
          <a:p>
            <a:pPr indent="0" marL="0">
              <a:buNone/>
            </a:pPr>
            <a:endParaRPr lang="en-US" sz="1300" dirty="0"/>
          </a:p>
          <a:p>
            <a:pPr indent="0" marL="0">
              <a:buNone/>
            </a:pPr>
            <a:r>
              <a:rPr lang="en-US" sz="1300" dirty="0">
                <a:solidFill>
                  <a:srgbClr val="3F4A56"/>
                </a:solidFill>
                <a:latin typeface="Calibri" pitchFamily="34" charset="0"/>
                <a:ea typeface="Calibri" pitchFamily="34" charset="-122"/>
                <a:cs typeface="Calibri" pitchFamily="34" charset="-120"/>
              </a:rPr>
              <a:t>If each retiree is replaced at the same step, the savings quietly disappear and nobody ever has to vote on losing them.</a:t>
            </a:r>
            <a:endParaRPr lang="en-US" sz="1300" dirty="0"/>
          </a:p>
          <a:p>
            <a:pPr indent="0" marL="0">
              <a:buNone/>
            </a:pPr>
            <a:endParaRPr lang="en-US" sz="1300" dirty="0"/>
          </a:p>
          <a:p>
            <a:pPr indent="0" marL="0">
              <a:buNone/>
            </a:pPr>
            <a:r>
              <a:rPr lang="en-US" sz="1300" dirty="0">
                <a:solidFill>
                  <a:srgbClr val="3F4A56"/>
                </a:solidFill>
                <a:latin typeface="Calibri" pitchFamily="34" charset="0"/>
                <a:ea typeface="Calibri" pitchFamily="34" charset="-122"/>
                <a:cs typeface="Calibri" pitchFamily="34" charset="-120"/>
              </a:rPr>
              <a:t>That is a decision inside your office, not another negotiation.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MEASURE 2</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Six changes the Board can make on its own</a:t>
            </a:r>
            <a:endParaRPr lang="en-US" sz="3400" dirty="0"/>
          </a:p>
        </p:txBody>
      </p:sp>
      <p:sp>
        <p:nvSpPr>
          <p:cNvPr id="4" name="Shape 2"/>
          <p:cNvSpPr/>
          <p:nvPr/>
        </p:nvSpPr>
        <p:spPr>
          <a:xfrm>
            <a:off x="548640" y="1737360"/>
            <a:ext cx="548640" cy="548640"/>
          </a:xfrm>
          <a:prstGeom prst="ellipse">
            <a:avLst/>
          </a:prstGeom>
          <a:solidFill>
            <a:srgbClr val="B98416"/>
          </a:solidFill>
          <a:ln/>
        </p:spPr>
      </p:sp>
      <p:sp>
        <p:nvSpPr>
          <p:cNvPr id="5" name="Text 3"/>
          <p:cNvSpPr/>
          <p:nvPr/>
        </p:nvSpPr>
        <p:spPr>
          <a:xfrm>
            <a:off x="548640" y="173736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6" name="Text 4"/>
          <p:cNvSpPr/>
          <p:nvPr/>
        </p:nvSpPr>
        <p:spPr>
          <a:xfrm>
            <a:off x="1280160" y="1719072"/>
            <a:ext cx="3108960" cy="594360"/>
          </a:xfrm>
          <a:prstGeom prst="rect">
            <a:avLst/>
          </a:prstGeom>
          <a:noFill/>
          <a:ln/>
        </p:spPr>
        <p:txBody>
          <a:bodyPr wrap="square" rtlCol="0" anchor="ctr"/>
          <a:lstStyle/>
          <a:p>
            <a:pPr indent="0" marL="0">
              <a:buNone/>
            </a:pPr>
            <a:r>
              <a:rPr lang="en-US" sz="3200" b="1" dirty="0">
                <a:solidFill>
                  <a:srgbClr val="B98416"/>
                </a:solidFill>
                <a:latin typeface="Cambria" pitchFamily="34" charset="0"/>
                <a:ea typeface="Cambria" pitchFamily="34" charset="-122"/>
                <a:cs typeface="Cambria" pitchFamily="34" charset="-120"/>
              </a:rPr>
              <a:t>$640,321</a:t>
            </a:r>
            <a:endParaRPr lang="en-US" sz="3200" dirty="0"/>
          </a:p>
        </p:txBody>
      </p:sp>
      <p:sp>
        <p:nvSpPr>
          <p:cNvPr id="7" name="Text 5"/>
          <p:cNvSpPr/>
          <p:nvPr/>
        </p:nvSpPr>
        <p:spPr>
          <a:xfrm>
            <a:off x="4297680" y="1874520"/>
            <a:ext cx="7315200" cy="320040"/>
          </a:xfrm>
          <a:prstGeom prst="rect">
            <a:avLst/>
          </a:prstGeom>
          <a:noFill/>
          <a:ln/>
        </p:spPr>
        <p:txBody>
          <a:bodyPr wrap="square" rtlCol="0" anchor="ctr"/>
          <a:lstStyle/>
          <a:p>
            <a:pPr indent="0" marL="0">
              <a:buNone/>
            </a:pPr>
            <a:r>
              <a:rPr lang="en-US" sz="1400" dirty="0">
                <a:solidFill>
                  <a:srgbClr val="6B7A8A"/>
                </a:solidFill>
                <a:latin typeface="Calibri" pitchFamily="34" charset="0"/>
                <a:ea typeface="Calibri" pitchFamily="34" charset="-122"/>
                <a:cs typeface="Calibri" pitchFamily="34" charset="-120"/>
              </a:rPr>
              <a:t>recurring · Board resolution · nobody loses a job</a:t>
            </a:r>
            <a:endParaRPr lang="en-US" sz="1400" dirty="0"/>
          </a:p>
        </p:txBody>
      </p:sp>
      <p:graphicFrame>
        <p:nvGraphicFramePr>
          <p:cNvPr id="8" name="Chart 0" descr=""/>
          <p:cNvGraphicFramePr/>
          <p:nvPr/>
        </p:nvGraphicFramePr>
        <p:xfrm>
          <a:off x="548640" y="2468880"/>
          <a:ext cx="7589520" cy="35661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503920" y="2468880"/>
            <a:ext cx="3108960" cy="3566160"/>
          </a:xfrm>
          <a:prstGeom prst="roundRect">
            <a:avLst>
              <a:gd name="adj" fmla="val 2353"/>
            </a:avLst>
          </a:prstGeom>
          <a:solidFill>
            <a:srgbClr val="FFF7E8"/>
          </a:solidFill>
          <a:ln w="12700">
            <a:solidFill>
              <a:srgbClr val="D8E0E7"/>
            </a:solidFill>
            <a:prstDash val="solid"/>
          </a:ln>
        </p:spPr>
      </p:sp>
      <p:sp>
        <p:nvSpPr>
          <p:cNvPr id="10" name="Text 7"/>
          <p:cNvSpPr/>
          <p:nvPr/>
        </p:nvSpPr>
        <p:spPr>
          <a:xfrm>
            <a:off x="8778240" y="2697480"/>
            <a:ext cx="2651760" cy="320040"/>
          </a:xfrm>
          <a:prstGeom prst="rect">
            <a:avLst/>
          </a:prstGeom>
          <a:noFill/>
          <a:ln/>
        </p:spPr>
        <p:txBody>
          <a:bodyPr wrap="square" rtlCol="0" anchor="ctr"/>
          <a:lstStyle/>
          <a:p>
            <a:pPr indent="0" marL="0">
              <a:buNone/>
            </a:pPr>
            <a:r>
              <a:rPr lang="en-US" sz="1800" b="1" dirty="0">
                <a:solidFill>
                  <a:srgbClr val="9B6B12"/>
                </a:solidFill>
                <a:latin typeface="Cambria" pitchFamily="34" charset="0"/>
                <a:ea typeface="Cambria" pitchFamily="34" charset="-122"/>
                <a:cs typeface="Cambria" pitchFamily="34" charset="-120"/>
              </a:rPr>
              <a:t>On the overtime line</a:t>
            </a:r>
            <a:endParaRPr lang="en-US" sz="1800" dirty="0"/>
          </a:p>
        </p:txBody>
      </p:sp>
      <p:sp>
        <p:nvSpPr>
          <p:cNvPr id="11" name="Text 8"/>
          <p:cNvSpPr/>
          <p:nvPr/>
        </p:nvSpPr>
        <p:spPr>
          <a:xfrm>
            <a:off x="8778240" y="3108960"/>
            <a:ext cx="2606040" cy="2743200"/>
          </a:xfrm>
          <a:prstGeom prst="rect">
            <a:avLst/>
          </a:prstGeom>
          <a:noFill/>
          <a:ln/>
        </p:spPr>
        <p:txBody>
          <a:bodyPr wrap="square" rtlCol="0" anchor="t"/>
          <a:lstStyle/>
          <a:p>
            <a:pPr indent="0" marL="0">
              <a:buNone/>
            </a:pPr>
            <a:r>
              <a:rPr lang="en-US" sz="1250" dirty="0">
                <a:solidFill>
                  <a:srgbClr val="3F4A56"/>
                </a:solidFill>
                <a:latin typeface="Calibri" pitchFamily="34" charset="0"/>
                <a:ea typeface="Calibri" pitchFamily="34" charset="-122"/>
                <a:cs typeface="Calibri" pitchFamily="34" charset="-120"/>
              </a:rPr>
              <a:t>Police overtime ran $1.40M against a $1.00M budget. That looks damning until you check the neighbours.</a:t>
            </a:r>
            <a:endParaRPr lang="en-US" sz="1250" dirty="0"/>
          </a:p>
          <a:p>
            <a:pPr indent="0" marL="0">
              <a:buNone/>
            </a:pPr>
            <a:endParaRPr lang="en-US" sz="1250" dirty="0"/>
          </a:p>
          <a:p>
            <a:pPr indent="0" marL="0">
              <a:buNone/>
            </a:pPr>
            <a:r>
              <a:rPr lang="en-US" sz="1250" dirty="0">
                <a:solidFill>
                  <a:srgbClr val="3F4A56"/>
                </a:solidFill>
                <a:latin typeface="Calibri" pitchFamily="34" charset="0"/>
                <a:ea typeface="Calibri" pitchFamily="34" charset="-122"/>
                <a:cs typeface="Calibri" pitchFamily="34" charset="-120"/>
              </a:rPr>
              <a:t>At Southampton’s per-officer rate, about $1.31M of it is ordinary coverage. Only the rest is counted here.</a:t>
            </a:r>
            <a:endParaRPr lang="en-US" sz="1250" dirty="0"/>
          </a:p>
          <a:p>
            <a:pPr indent="0" marL="0">
              <a:buNone/>
            </a:pPr>
            <a:endParaRPr lang="en-US" sz="1250" dirty="0"/>
          </a:p>
          <a:p>
            <a:pPr indent="0" marL="0">
              <a:buNone/>
            </a:pPr>
            <a:r>
              <a:rPr lang="en-US" sz="1250" dirty="0">
                <a:solidFill>
                  <a:srgbClr val="3F4A56"/>
                </a:solidFill>
                <a:latin typeface="Calibri" pitchFamily="34" charset="0"/>
                <a:ea typeface="Calibri" pitchFamily="34" charset="-122"/>
                <a:cs typeface="Calibri" pitchFamily="34" charset="-120"/>
              </a:rPr>
              <a:t>The real problem is that the budget line says $1M when the actual has been $1.4M for years.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MEASURE 3</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Make seven departments explain a jump</a:t>
            </a:r>
            <a:endParaRPr lang="en-US" sz="3400" dirty="0"/>
          </a:p>
        </p:txBody>
      </p:sp>
      <p:sp>
        <p:nvSpPr>
          <p:cNvPr id="4" name="Shape 2"/>
          <p:cNvSpPr/>
          <p:nvPr/>
        </p:nvSpPr>
        <p:spPr>
          <a:xfrm>
            <a:off x="548640" y="1737360"/>
            <a:ext cx="548640" cy="548640"/>
          </a:xfrm>
          <a:prstGeom prst="ellipse">
            <a:avLst/>
          </a:prstGeom>
          <a:solidFill>
            <a:srgbClr val="109184"/>
          </a:solidFill>
          <a:ln/>
        </p:spPr>
      </p:sp>
      <p:sp>
        <p:nvSpPr>
          <p:cNvPr id="5" name="Text 3"/>
          <p:cNvSpPr/>
          <p:nvPr/>
        </p:nvSpPr>
        <p:spPr>
          <a:xfrm>
            <a:off x="548640" y="173736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6" name="Text 4"/>
          <p:cNvSpPr/>
          <p:nvPr/>
        </p:nvSpPr>
        <p:spPr>
          <a:xfrm>
            <a:off x="1280160" y="1719072"/>
            <a:ext cx="3108960" cy="594360"/>
          </a:xfrm>
          <a:prstGeom prst="rect">
            <a:avLst/>
          </a:prstGeom>
          <a:noFill/>
          <a:ln/>
        </p:spPr>
        <p:txBody>
          <a:bodyPr wrap="square" rtlCol="0" anchor="ctr"/>
          <a:lstStyle/>
          <a:p>
            <a:pPr indent="0" marL="0">
              <a:buNone/>
            </a:pPr>
            <a:r>
              <a:rPr lang="en-US" sz="3200" b="1" dirty="0">
                <a:solidFill>
                  <a:srgbClr val="109184"/>
                </a:solidFill>
                <a:latin typeface="Cambria" pitchFamily="34" charset="0"/>
                <a:ea typeface="Cambria" pitchFamily="34" charset="-122"/>
                <a:cs typeface="Cambria" pitchFamily="34" charset="-120"/>
              </a:rPr>
              <a:t>$627,400</a:t>
            </a:r>
            <a:endParaRPr lang="en-US" sz="3200" dirty="0"/>
          </a:p>
        </p:txBody>
      </p:sp>
      <p:sp>
        <p:nvSpPr>
          <p:cNvPr id="7" name="Text 5"/>
          <p:cNvSpPr/>
          <p:nvPr/>
        </p:nvSpPr>
        <p:spPr>
          <a:xfrm>
            <a:off x="4297680" y="1874520"/>
            <a:ext cx="7315200" cy="320040"/>
          </a:xfrm>
          <a:prstGeom prst="rect">
            <a:avLst/>
          </a:prstGeom>
          <a:noFill/>
          <a:ln/>
        </p:spPr>
        <p:txBody>
          <a:bodyPr wrap="square" rtlCol="0" anchor="ctr"/>
          <a:lstStyle/>
          <a:p>
            <a:pPr indent="0" marL="0">
              <a:buNone/>
            </a:pPr>
            <a:r>
              <a:rPr lang="en-US" sz="1400" dirty="0">
                <a:solidFill>
                  <a:srgbClr val="6B7A8A"/>
                </a:solidFill>
                <a:latin typeface="Calibri" pitchFamily="34" charset="0"/>
                <a:ea typeface="Calibri" pitchFamily="34" charset="-122"/>
                <a:cs typeface="Calibri" pitchFamily="34" charset="-120"/>
              </a:rPr>
              <a:t>recurring · a written justification, not a cut</a:t>
            </a:r>
            <a:endParaRPr lang="en-US" sz="1400" dirty="0"/>
          </a:p>
        </p:txBody>
      </p:sp>
      <p:graphicFrame>
        <p:nvGraphicFramePr>
          <p:cNvPr id="8" name="Chart 0" descr=""/>
          <p:cNvGraphicFramePr/>
          <p:nvPr/>
        </p:nvGraphicFramePr>
        <p:xfrm>
          <a:off x="548640" y="2468880"/>
          <a:ext cx="7223760" cy="35661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138160" y="2468880"/>
            <a:ext cx="3474720" cy="3566160"/>
          </a:xfrm>
          <a:prstGeom prst="roundRect">
            <a:avLst>
              <a:gd name="adj" fmla="val 2105"/>
            </a:avLst>
          </a:prstGeom>
          <a:solidFill>
            <a:srgbClr val="EFFAF7"/>
          </a:solidFill>
          <a:ln w="12700">
            <a:solidFill>
              <a:srgbClr val="D8E0E7"/>
            </a:solidFill>
            <a:prstDash val="solid"/>
          </a:ln>
        </p:spPr>
      </p:sp>
      <p:sp>
        <p:nvSpPr>
          <p:cNvPr id="10" name="Text 7"/>
          <p:cNvSpPr/>
          <p:nvPr/>
        </p:nvSpPr>
        <p:spPr>
          <a:xfrm>
            <a:off x="8412480" y="2697480"/>
            <a:ext cx="2926080" cy="320040"/>
          </a:xfrm>
          <a:prstGeom prst="rect">
            <a:avLst/>
          </a:prstGeom>
          <a:noFill/>
          <a:ln/>
        </p:spPr>
        <p:txBody>
          <a:bodyPr wrap="square" rtlCol="0" anchor="ctr"/>
          <a:lstStyle/>
          <a:p>
            <a:pPr indent="0" marL="0">
              <a:buNone/>
            </a:pPr>
            <a:r>
              <a:rPr lang="en-US" sz="1800" b="1" dirty="0">
                <a:solidFill>
                  <a:srgbClr val="109184"/>
                </a:solidFill>
                <a:latin typeface="Cambria" pitchFamily="34" charset="0"/>
                <a:ea typeface="Cambria" pitchFamily="34" charset="-122"/>
                <a:cs typeface="Cambria" pitchFamily="34" charset="-120"/>
              </a:rPr>
              <a:t>To be clear</a:t>
            </a:r>
            <a:endParaRPr lang="en-US" sz="1800" dirty="0"/>
          </a:p>
        </p:txBody>
      </p:sp>
      <p:sp>
        <p:nvSpPr>
          <p:cNvPr id="11" name="Text 8"/>
          <p:cNvSpPr/>
          <p:nvPr/>
        </p:nvSpPr>
        <p:spPr>
          <a:xfrm>
            <a:off x="8412480" y="3108960"/>
            <a:ext cx="2926080" cy="2743200"/>
          </a:xfrm>
          <a:prstGeom prst="rect">
            <a:avLst/>
          </a:prstGeom>
          <a:noFill/>
          <a:ln/>
        </p:spPr>
        <p:txBody>
          <a:bodyPr wrap="square" rtlCol="0" anchor="t"/>
          <a:lstStyle/>
          <a:p>
            <a:pPr indent="0" marL="0">
              <a:buNone/>
            </a:pPr>
            <a:r>
              <a:rPr lang="en-US" sz="1250" dirty="0">
                <a:solidFill>
                  <a:srgbClr val="3F4A56"/>
                </a:solidFill>
                <a:latin typeface="Calibri" pitchFamily="34" charset="0"/>
                <a:ea typeface="Calibri" pitchFamily="34" charset="-122"/>
                <a:cs typeface="Calibri" pitchFamily="34" charset="-120"/>
              </a:rPr>
              <a:t>Postage went from $1,500 to $13,500. A miscellaneous line went from $3,200 to $53,200.</a:t>
            </a:r>
            <a:endParaRPr lang="en-US" sz="1250" dirty="0"/>
          </a:p>
          <a:p>
            <a:pPr indent="0" marL="0">
              <a:buNone/>
            </a:pPr>
            <a:endParaRPr lang="en-US" sz="1250" dirty="0"/>
          </a:p>
          <a:p>
            <a:pPr indent="0" marL="0">
              <a:buNone/>
            </a:pPr>
            <a:r>
              <a:rPr lang="en-US" sz="1250" dirty="0">
                <a:solidFill>
                  <a:srgbClr val="3F4A56"/>
                </a:solidFill>
                <a:latin typeface="Calibri" pitchFamily="34" charset="0"/>
                <a:ea typeface="Calibri" pitchFamily="34" charset="-122"/>
                <a:cs typeface="Calibri" pitchFamily="34" charset="-120"/>
              </a:rPr>
              <a:t>From outside the building I can’t tell you why, and there may be good reasons for every one.</a:t>
            </a:r>
            <a:endParaRPr lang="en-US" sz="1250" dirty="0"/>
          </a:p>
          <a:p>
            <a:pPr indent="0" marL="0">
              <a:buNone/>
            </a:pPr>
            <a:endParaRPr lang="en-US" sz="1250" dirty="0"/>
          </a:p>
          <a:p>
            <a:pPr indent="0" marL="0">
              <a:buNone/>
            </a:pPr>
            <a:r>
              <a:rPr lang="en-US" sz="1250" dirty="0">
                <a:solidFill>
                  <a:srgbClr val="3F4A56"/>
                </a:solidFill>
                <a:latin typeface="Calibri" pitchFamily="34" charset="0"/>
                <a:ea typeface="Calibri" pitchFamily="34" charset="-122"/>
                <a:cs typeface="Calibri" pitchFamily="34" charset="-120"/>
              </a:rPr>
              <a:t>I’m not accusing anyone. I’m saying someone should write the reason down before it becomes next year’s baseline.</a:t>
            </a:r>
            <a:endParaRPr lang="en-US" sz="1250" dirty="0"/>
          </a:p>
        </p:txBody>
      </p:sp>
      <p:sp>
        <p:nvSpPr>
          <p:cNvPr id="12" name="Text 9"/>
          <p:cNvSpPr/>
          <p:nvPr/>
        </p:nvSpPr>
        <p:spPr>
          <a:xfrm>
            <a:off x="548640" y="6035040"/>
            <a:ext cx="11064240" cy="292608"/>
          </a:xfrm>
          <a:prstGeom prst="rect">
            <a:avLst/>
          </a:prstGeom>
          <a:noFill/>
          <a:ln/>
        </p:spPr>
        <p:txBody>
          <a:bodyPr wrap="square" rtlCol="0" anchor="ctr"/>
          <a:lstStyle/>
          <a:p>
            <a:pPr indent="0" marL="0">
              <a:buNone/>
            </a:pPr>
            <a:r>
              <a:rPr lang="en-US" sz="1000" dirty="0">
                <a:solidFill>
                  <a:srgbClr val="6B7A8A"/>
                </a:solidFill>
                <a:latin typeface="Calibri" pitchFamily="34" charset="0"/>
                <a:ea typeface="Calibri" pitchFamily="34" charset="-122"/>
                <a:cs typeface="Calibri" pitchFamily="34" charset="-120"/>
              </a:rPr>
              <a:t>Percentages are one-year growth in the 2026 adopted budget. Source: 2026 Budget Supplement.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MEASURE 4</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Bring padded lines back to what they actually spend</a:t>
            </a:r>
            <a:endParaRPr lang="en-US" sz="3400" dirty="0"/>
          </a:p>
        </p:txBody>
      </p:sp>
      <p:sp>
        <p:nvSpPr>
          <p:cNvPr id="4" name="Shape 2"/>
          <p:cNvSpPr/>
          <p:nvPr/>
        </p:nvSpPr>
        <p:spPr>
          <a:xfrm>
            <a:off x="548640" y="1737360"/>
            <a:ext cx="548640" cy="548640"/>
          </a:xfrm>
          <a:prstGeom prst="ellipse">
            <a:avLst/>
          </a:prstGeom>
          <a:solidFill>
            <a:srgbClr val="BF4038"/>
          </a:solidFill>
          <a:ln/>
        </p:spPr>
      </p:sp>
      <p:sp>
        <p:nvSpPr>
          <p:cNvPr id="5" name="Text 3"/>
          <p:cNvSpPr/>
          <p:nvPr/>
        </p:nvSpPr>
        <p:spPr>
          <a:xfrm>
            <a:off x="548640" y="173736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6" name="Text 4"/>
          <p:cNvSpPr/>
          <p:nvPr/>
        </p:nvSpPr>
        <p:spPr>
          <a:xfrm>
            <a:off x="1280160" y="1719072"/>
            <a:ext cx="3108960" cy="594360"/>
          </a:xfrm>
          <a:prstGeom prst="rect">
            <a:avLst/>
          </a:prstGeom>
          <a:noFill/>
          <a:ln/>
        </p:spPr>
        <p:txBody>
          <a:bodyPr wrap="square" rtlCol="0" anchor="ctr"/>
          <a:lstStyle/>
          <a:p>
            <a:pPr indent="0" marL="0">
              <a:buNone/>
            </a:pPr>
            <a:r>
              <a:rPr lang="en-US" sz="3200" b="1" dirty="0">
                <a:solidFill>
                  <a:srgbClr val="BF4038"/>
                </a:solidFill>
                <a:latin typeface="Cambria" pitchFamily="34" charset="0"/>
                <a:ea typeface="Cambria" pitchFamily="34" charset="-122"/>
                <a:cs typeface="Cambria" pitchFamily="34" charset="-120"/>
              </a:rPr>
              <a:t>$828,210</a:t>
            </a:r>
            <a:endParaRPr lang="en-US" sz="3200" dirty="0"/>
          </a:p>
        </p:txBody>
      </p:sp>
      <p:sp>
        <p:nvSpPr>
          <p:cNvPr id="7" name="Text 5"/>
          <p:cNvSpPr/>
          <p:nvPr/>
        </p:nvSpPr>
        <p:spPr>
          <a:xfrm>
            <a:off x="4297680" y="1874520"/>
            <a:ext cx="7315200" cy="320040"/>
          </a:xfrm>
          <a:prstGeom prst="rect">
            <a:avLst/>
          </a:prstGeom>
          <a:noFill/>
          <a:ln/>
        </p:spPr>
        <p:txBody>
          <a:bodyPr wrap="square" rtlCol="0" anchor="ctr"/>
          <a:lstStyle/>
          <a:p>
            <a:pPr indent="0" marL="0">
              <a:buNone/>
            </a:pPr>
            <a:r>
              <a:rPr lang="en-US" sz="1400" dirty="0">
                <a:solidFill>
                  <a:srgbClr val="6B7A8A"/>
                </a:solidFill>
                <a:latin typeface="Calibri" pitchFamily="34" charset="0"/>
                <a:ea typeface="Calibri" pitchFamily="34" charset="-122"/>
                <a:cs typeface="Calibri" pitchFamily="34" charset="-120"/>
              </a:rPr>
              <a:t>recurring — the part I would defend line by line</a:t>
            </a:r>
            <a:endParaRPr lang="en-US" sz="1400" dirty="0"/>
          </a:p>
        </p:txBody>
      </p:sp>
      <p:graphicFrame>
        <p:nvGraphicFramePr>
          <p:cNvPr id="8" name="Chart 0" descr=""/>
          <p:cNvGraphicFramePr/>
          <p:nvPr/>
        </p:nvGraphicFramePr>
        <p:xfrm>
          <a:off x="548640" y="2514600"/>
          <a:ext cx="5760720" cy="32918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6675120" y="2606040"/>
            <a:ext cx="4937760" cy="365760"/>
          </a:xfrm>
          <a:prstGeom prst="rect">
            <a:avLst/>
          </a:prstGeom>
          <a:noFill/>
          <a:ln/>
        </p:spPr>
        <p:txBody>
          <a:bodyPr wrap="square" rtlCol="0" anchor="ctr"/>
          <a:lstStyle/>
          <a:p>
            <a:pPr indent="0" marL="0">
              <a:buNone/>
            </a:pPr>
            <a:r>
              <a:rPr lang="en-US" sz="2100" b="1" dirty="0">
                <a:solidFill>
                  <a:srgbClr val="1F2933"/>
                </a:solidFill>
                <a:latin typeface="Cambria" pitchFamily="34" charset="0"/>
                <a:ea typeface="Cambria" pitchFamily="34" charset="-122"/>
                <a:cs typeface="Cambria" pitchFamily="34" charset="-120"/>
              </a:rPr>
              <a:t>Why claim the smaller number</a:t>
            </a:r>
            <a:endParaRPr lang="en-US" sz="2100" dirty="0"/>
          </a:p>
        </p:txBody>
      </p:sp>
      <p:sp>
        <p:nvSpPr>
          <p:cNvPr id="10" name="Text 7"/>
          <p:cNvSpPr/>
          <p:nvPr/>
        </p:nvSpPr>
        <p:spPr>
          <a:xfrm>
            <a:off x="6675120" y="3063240"/>
            <a:ext cx="4937760" cy="2743200"/>
          </a:xfrm>
          <a:prstGeom prst="rect">
            <a:avLst/>
          </a:prstGeom>
          <a:noFill/>
          <a:ln/>
        </p:spPr>
        <p:txBody>
          <a:bodyPr wrap="square" rtlCol="0" anchor="t"/>
          <a:lstStyle/>
          <a:p>
            <a:pPr indent="0" marL="0">
              <a:buNone/>
            </a:pPr>
            <a:r>
              <a:rPr lang="en-US" sz="1350" dirty="0">
                <a:solidFill>
                  <a:srgbClr val="3F4A56"/>
                </a:solidFill>
                <a:latin typeface="Calibri" pitchFamily="34" charset="0"/>
                <a:ea typeface="Calibri" pitchFamily="34" charset="-122"/>
                <a:cs typeface="Calibri" pitchFamily="34" charset="-120"/>
              </a:rPr>
              <a:t>These are controllable, non-mandated lines budgeted more than 30% above what they have actually been spending.</a:t>
            </a:r>
            <a:endParaRPr lang="en-US" sz="1350" dirty="0"/>
          </a:p>
          <a:p>
            <a:pPr indent="0" marL="0">
              <a:buNone/>
            </a:pPr>
            <a:endParaRPr lang="en-US" sz="1350" dirty="0"/>
          </a:p>
          <a:p>
            <a:pPr indent="0" marL="0">
              <a:buNone/>
            </a:pPr>
            <a:r>
              <a:rPr lang="en-US" sz="1350" dirty="0">
                <a:solidFill>
                  <a:srgbClr val="3F4A56"/>
                </a:solidFill>
                <a:latin typeface="Calibri" pitchFamily="34" charset="0"/>
                <a:ea typeface="Calibri" pitchFamily="34" charset="-122"/>
                <a:cs typeface="Calibri" pitchFamily="34" charset="-120"/>
              </a:rPr>
              <a:t>The full $2.36M is real and the Board can go after it. But it includes capital timing and fuel prices, where trimming the budget is really just guessing at next year’s weather and markets.</a:t>
            </a:r>
            <a:endParaRPr lang="en-US" sz="1350" dirty="0"/>
          </a:p>
          <a:p>
            <a:pPr indent="0" marL="0">
              <a:buNone/>
            </a:pPr>
            <a:endParaRPr lang="en-US" sz="1350" dirty="0"/>
          </a:p>
          <a:p>
            <a:pPr indent="0" marL="0">
              <a:buNone/>
            </a:pPr>
            <a:r>
              <a:rPr lang="en-US" sz="1350" dirty="0">
                <a:solidFill>
                  <a:srgbClr val="3F4A56"/>
                </a:solidFill>
                <a:latin typeface="Calibri" pitchFamily="34" charset="0"/>
                <a:ea typeface="Calibri" pitchFamily="34" charset="-122"/>
                <a:cs typeface="Calibri" pitchFamily="34" charset="-120"/>
              </a:rPr>
              <a:t>I would rather hand you a number that holds up at a public hearing than a bigger one that doesn’t.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MEASURE 5</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Use the pension exclusion the cap already gives you</a:t>
            </a:r>
            <a:endParaRPr lang="en-US" sz="3400" dirty="0"/>
          </a:p>
        </p:txBody>
      </p:sp>
      <p:sp>
        <p:nvSpPr>
          <p:cNvPr id="4" name="Shape 2"/>
          <p:cNvSpPr/>
          <p:nvPr/>
        </p:nvSpPr>
        <p:spPr>
          <a:xfrm>
            <a:off x="548640" y="1737360"/>
            <a:ext cx="548640" cy="548640"/>
          </a:xfrm>
          <a:prstGeom prst="ellipse">
            <a:avLst/>
          </a:prstGeom>
          <a:solidFill>
            <a:srgbClr val="8158CC"/>
          </a:solidFill>
          <a:ln/>
        </p:spPr>
      </p:sp>
      <p:sp>
        <p:nvSpPr>
          <p:cNvPr id="5" name="Text 3"/>
          <p:cNvSpPr/>
          <p:nvPr/>
        </p:nvSpPr>
        <p:spPr>
          <a:xfrm>
            <a:off x="548640" y="1737360"/>
            <a:ext cx="54864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6" name="Text 4"/>
          <p:cNvSpPr/>
          <p:nvPr/>
        </p:nvSpPr>
        <p:spPr>
          <a:xfrm>
            <a:off x="1280160" y="1719072"/>
            <a:ext cx="3108960" cy="594360"/>
          </a:xfrm>
          <a:prstGeom prst="rect">
            <a:avLst/>
          </a:prstGeom>
          <a:noFill/>
          <a:ln/>
        </p:spPr>
        <p:txBody>
          <a:bodyPr wrap="square" rtlCol="0" anchor="ctr"/>
          <a:lstStyle/>
          <a:p>
            <a:pPr indent="0" marL="0">
              <a:buNone/>
            </a:pPr>
            <a:r>
              <a:rPr lang="en-US" sz="3200" b="1" dirty="0">
                <a:solidFill>
                  <a:srgbClr val="8158CC"/>
                </a:solidFill>
                <a:latin typeface="Cambria" pitchFamily="34" charset="0"/>
                <a:ea typeface="Cambria" pitchFamily="34" charset="-122"/>
                <a:cs typeface="Cambria" pitchFamily="34" charset="-120"/>
              </a:rPr>
              <a:t>$137,642</a:t>
            </a:r>
            <a:endParaRPr lang="en-US" sz="3200" dirty="0"/>
          </a:p>
        </p:txBody>
      </p:sp>
      <p:sp>
        <p:nvSpPr>
          <p:cNvPr id="7" name="Text 5"/>
          <p:cNvSpPr/>
          <p:nvPr/>
        </p:nvSpPr>
        <p:spPr>
          <a:xfrm>
            <a:off x="4297680" y="1874520"/>
            <a:ext cx="7315200" cy="320040"/>
          </a:xfrm>
          <a:prstGeom prst="rect">
            <a:avLst/>
          </a:prstGeom>
          <a:noFill/>
          <a:ln/>
        </p:spPr>
        <p:txBody>
          <a:bodyPr wrap="square" rtlCol="0" anchor="ctr"/>
          <a:lstStyle/>
          <a:p>
            <a:pPr indent="0" marL="0">
              <a:buNone/>
            </a:pPr>
            <a:r>
              <a:rPr lang="en-US" sz="1400" dirty="0">
                <a:solidFill>
                  <a:srgbClr val="6B7A8A"/>
                </a:solidFill>
                <a:latin typeface="Calibri" pitchFamily="34" charset="0"/>
                <a:ea typeface="Calibri" pitchFamily="34" charset="-122"/>
                <a:cs typeface="Calibri" pitchFamily="34" charset="-120"/>
              </a:rPr>
              <a:t>of levy the cap formula lets you exclude</a:t>
            </a:r>
            <a:endParaRPr lang="en-US" sz="1400" dirty="0"/>
          </a:p>
        </p:txBody>
      </p:sp>
      <p:sp>
        <p:nvSpPr>
          <p:cNvPr id="8" name="Shape 6"/>
          <p:cNvSpPr/>
          <p:nvPr/>
        </p:nvSpPr>
        <p:spPr>
          <a:xfrm>
            <a:off x="548640" y="2514600"/>
            <a:ext cx="5486400" cy="1417320"/>
          </a:xfrm>
          <a:prstGeom prst="roundRect">
            <a:avLst>
              <a:gd name="adj" fmla="val 5161"/>
            </a:avLst>
          </a:prstGeom>
          <a:solidFill>
            <a:srgbClr val="F6F2FC"/>
          </a:solidFill>
          <a:ln w="12700">
            <a:solidFill>
              <a:srgbClr val="D8E0E7"/>
            </a:solidFill>
            <a:prstDash val="solid"/>
          </a:ln>
        </p:spPr>
      </p:sp>
      <p:sp>
        <p:nvSpPr>
          <p:cNvPr id="9" name="Text 7"/>
          <p:cNvSpPr/>
          <p:nvPr/>
        </p:nvSpPr>
        <p:spPr>
          <a:xfrm>
            <a:off x="868680" y="2697480"/>
            <a:ext cx="4846320" cy="274320"/>
          </a:xfrm>
          <a:prstGeom prst="rect">
            <a:avLst/>
          </a:prstGeom>
          <a:noFill/>
          <a:ln/>
        </p:spPr>
        <p:txBody>
          <a:bodyPr wrap="square" rtlCol="0" anchor="ctr"/>
          <a:lstStyle/>
          <a:p>
            <a:pPr indent="0" marL="0">
              <a:buNone/>
            </a:pPr>
            <a:r>
              <a:rPr lang="en-US" sz="1300" b="1" dirty="0">
                <a:solidFill>
                  <a:srgbClr val="8158CC"/>
                </a:solidFill>
                <a:latin typeface="Calibri" pitchFamily="34" charset="0"/>
                <a:ea typeface="Calibri" pitchFamily="34" charset="-122"/>
                <a:cs typeface="Calibri" pitchFamily="34" charset="-120"/>
              </a:rPr>
              <a:t>PFRS  ·  covers PBA and SOA</a:t>
            </a:r>
            <a:endParaRPr lang="en-US" sz="1300" dirty="0"/>
          </a:p>
        </p:txBody>
      </p:sp>
      <p:sp>
        <p:nvSpPr>
          <p:cNvPr id="10" name="Text 8"/>
          <p:cNvSpPr/>
          <p:nvPr/>
        </p:nvSpPr>
        <p:spPr>
          <a:xfrm>
            <a:off x="868680" y="2971800"/>
            <a:ext cx="4846320" cy="411480"/>
          </a:xfrm>
          <a:prstGeom prst="rect">
            <a:avLst/>
          </a:prstGeom>
          <a:noFill/>
          <a:ln/>
        </p:spPr>
        <p:txBody>
          <a:bodyPr wrap="square"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33.7%  →  36.5%</a:t>
            </a:r>
            <a:endParaRPr lang="en-US" sz="2600" dirty="0"/>
          </a:p>
        </p:txBody>
      </p:sp>
      <p:sp>
        <p:nvSpPr>
          <p:cNvPr id="11" name="Text 9"/>
          <p:cNvSpPr/>
          <p:nvPr/>
        </p:nvSpPr>
        <p:spPr>
          <a:xfrm>
            <a:off x="868680" y="3401568"/>
            <a:ext cx="4846320" cy="438912"/>
          </a:xfrm>
          <a:prstGeom prst="rect">
            <a:avLst/>
          </a:prstGeom>
          <a:noFill/>
          <a:ln/>
        </p:spPr>
        <p:txBody>
          <a:bodyPr wrap="square" rtlCol="0" anchor="ctr"/>
          <a:lstStyle/>
          <a:p>
            <a:pPr indent="0" marL="0">
              <a:buNone/>
            </a:pPr>
            <a:r>
              <a:rPr lang="en-US" sz="1250" dirty="0">
                <a:solidFill>
                  <a:srgbClr val="3F4A56"/>
                </a:solidFill>
                <a:latin typeface="Calibri" pitchFamily="34" charset="0"/>
                <a:ea typeface="Calibri" pitchFamily="34" charset="-122"/>
                <a:cs typeface="Calibri" pitchFamily="34" charset="-120"/>
              </a:rPr>
              <a:t>a 2.8-point rise — 0.8 over the threshold, so it qualifies</a:t>
            </a:r>
            <a:endParaRPr lang="en-US" sz="1250" dirty="0"/>
          </a:p>
        </p:txBody>
      </p:sp>
      <p:sp>
        <p:nvSpPr>
          <p:cNvPr id="12" name="Shape 10"/>
          <p:cNvSpPr/>
          <p:nvPr/>
        </p:nvSpPr>
        <p:spPr>
          <a:xfrm>
            <a:off x="548640" y="4069080"/>
            <a:ext cx="5486400" cy="1280160"/>
          </a:xfrm>
          <a:prstGeom prst="roundRect">
            <a:avLst>
              <a:gd name="adj" fmla="val 5714"/>
            </a:avLst>
          </a:prstGeom>
          <a:solidFill>
            <a:srgbClr val="F6F8FA"/>
          </a:solidFill>
          <a:ln w="12700">
            <a:solidFill>
              <a:srgbClr val="D8E0E7"/>
            </a:solidFill>
            <a:prstDash val="solid"/>
          </a:ln>
        </p:spPr>
      </p:sp>
      <p:sp>
        <p:nvSpPr>
          <p:cNvPr id="13" name="Text 11"/>
          <p:cNvSpPr/>
          <p:nvPr/>
        </p:nvSpPr>
        <p:spPr>
          <a:xfrm>
            <a:off x="868680" y="4224528"/>
            <a:ext cx="4846320" cy="274320"/>
          </a:xfrm>
          <a:prstGeom prst="rect">
            <a:avLst/>
          </a:prstGeom>
          <a:noFill/>
          <a:ln/>
        </p:spPr>
        <p:txBody>
          <a:bodyPr wrap="square" rtlCol="0" anchor="ctr"/>
          <a:lstStyle/>
          <a:p>
            <a:pPr indent="0" marL="0">
              <a:buNone/>
            </a:pPr>
            <a:r>
              <a:rPr lang="en-US" sz="1300" b="1" dirty="0">
                <a:solidFill>
                  <a:srgbClr val="6B7A8A"/>
                </a:solidFill>
                <a:latin typeface="Calibri" pitchFamily="34" charset="0"/>
                <a:ea typeface="Calibri" pitchFamily="34" charset="-122"/>
                <a:cs typeface="Calibri" pitchFamily="34" charset="-120"/>
              </a:rPr>
              <a:t>ERS  ·  covers CSEA</a:t>
            </a:r>
            <a:endParaRPr lang="en-US" sz="1300" dirty="0"/>
          </a:p>
        </p:txBody>
      </p:sp>
      <p:sp>
        <p:nvSpPr>
          <p:cNvPr id="14" name="Text 12"/>
          <p:cNvSpPr/>
          <p:nvPr/>
        </p:nvSpPr>
        <p:spPr>
          <a:xfrm>
            <a:off x="868680" y="4480560"/>
            <a:ext cx="4846320" cy="365760"/>
          </a:xfrm>
          <a:prstGeom prst="rect">
            <a:avLst/>
          </a:prstGeom>
          <a:noFill/>
          <a:ln/>
        </p:spPr>
        <p:txBody>
          <a:bodyPr wrap="square" rtlCol="0" anchor="ctr"/>
          <a:lstStyle/>
          <a:p>
            <a:pPr indent="0" marL="0">
              <a:buNone/>
            </a:pPr>
            <a:r>
              <a:rPr lang="en-US" sz="2200" b="1" dirty="0">
                <a:solidFill>
                  <a:srgbClr val="6B7A8A"/>
                </a:solidFill>
                <a:latin typeface="Cambria" pitchFamily="34" charset="0"/>
                <a:ea typeface="Cambria" pitchFamily="34" charset="-122"/>
                <a:cs typeface="Cambria" pitchFamily="34" charset="-120"/>
              </a:rPr>
              <a:t>16.5%  →  17.6%</a:t>
            </a:r>
            <a:endParaRPr lang="en-US" sz="2200" dirty="0"/>
          </a:p>
        </p:txBody>
      </p:sp>
      <p:sp>
        <p:nvSpPr>
          <p:cNvPr id="15" name="Text 13"/>
          <p:cNvSpPr/>
          <p:nvPr/>
        </p:nvSpPr>
        <p:spPr>
          <a:xfrm>
            <a:off x="868680" y="4892040"/>
            <a:ext cx="4846320" cy="274320"/>
          </a:xfrm>
          <a:prstGeom prst="rect">
            <a:avLst/>
          </a:prstGeom>
          <a:noFill/>
          <a:ln/>
        </p:spPr>
        <p:txBody>
          <a:bodyPr wrap="square" rtlCol="0" anchor="ctr"/>
          <a:lstStyle/>
          <a:p>
            <a:pPr indent="0" marL="0">
              <a:buNone/>
            </a:pPr>
            <a:r>
              <a:rPr lang="en-US" sz="1250" dirty="0">
                <a:solidFill>
                  <a:srgbClr val="3F4A56"/>
                </a:solidFill>
                <a:latin typeface="Calibri" pitchFamily="34" charset="0"/>
                <a:ea typeface="Calibri" pitchFamily="34" charset="-122"/>
                <a:cs typeface="Calibri" pitchFamily="34" charset="-120"/>
              </a:rPr>
              <a:t>a 1.1-point rise — under the threshold, so no exclusion</a:t>
            </a:r>
            <a:endParaRPr lang="en-US" sz="1250" dirty="0"/>
          </a:p>
        </p:txBody>
      </p:sp>
      <p:sp>
        <p:nvSpPr>
          <p:cNvPr id="16" name="Text 14"/>
          <p:cNvSpPr/>
          <p:nvPr/>
        </p:nvSpPr>
        <p:spPr>
          <a:xfrm>
            <a:off x="6492240" y="2606040"/>
            <a:ext cx="5120640" cy="365760"/>
          </a:xfrm>
          <a:prstGeom prst="rect">
            <a:avLst/>
          </a:prstGeom>
          <a:noFill/>
          <a:ln/>
        </p:spPr>
        <p:txBody>
          <a:bodyPr wrap="square" rtlCol="0" anchor="ctr"/>
          <a:lstStyle/>
          <a:p>
            <a:pPr indent="0" marL="0">
              <a:buNone/>
            </a:pPr>
            <a:r>
              <a:rPr lang="en-US" sz="2200" b="1" dirty="0">
                <a:solidFill>
                  <a:srgbClr val="1F2933"/>
                </a:solidFill>
                <a:latin typeface="Cambria" pitchFamily="34" charset="0"/>
                <a:ea typeface="Cambria" pitchFamily="34" charset="-122"/>
                <a:cs typeface="Cambria" pitchFamily="34" charset="-120"/>
              </a:rPr>
              <a:t>This one costs nothing</a:t>
            </a:r>
            <a:endParaRPr lang="en-US" sz="2200" dirty="0"/>
          </a:p>
        </p:txBody>
      </p:sp>
      <p:sp>
        <p:nvSpPr>
          <p:cNvPr id="17" name="Text 15"/>
          <p:cNvSpPr/>
          <p:nvPr/>
        </p:nvSpPr>
        <p:spPr>
          <a:xfrm>
            <a:off x="6492240" y="3063240"/>
            <a:ext cx="5120640" cy="2743200"/>
          </a:xfrm>
          <a:prstGeom prst="rect">
            <a:avLst/>
          </a:prstGeom>
          <a:noFill/>
          <a:ln/>
        </p:spPr>
        <p:txBody>
          <a:bodyPr wrap="square" rtlCol="0" anchor="t"/>
          <a:lstStyle/>
          <a:p>
            <a:pPr indent="0" marL="0">
              <a:buNone/>
            </a:pPr>
            <a:r>
              <a:rPr lang="en-US" sz="1350" dirty="0">
                <a:solidFill>
                  <a:srgbClr val="3F4A56"/>
                </a:solidFill>
                <a:latin typeface="Calibri" pitchFamily="34" charset="0"/>
                <a:ea typeface="Calibri" pitchFamily="34" charset="-122"/>
                <a:cs typeface="Calibri" pitchFamily="34" charset="-120"/>
              </a:rPr>
              <a:t>It isn’t a cut at all. The cap formula excludes pension-cost growth above a two-point rise in a retirement system’s contribution rate.</a:t>
            </a:r>
            <a:endParaRPr lang="en-US" sz="1350" dirty="0"/>
          </a:p>
          <a:p>
            <a:pPr indent="0" marL="0">
              <a:buNone/>
            </a:pPr>
            <a:endParaRPr lang="en-US" sz="1350" dirty="0"/>
          </a:p>
          <a:p>
            <a:pPr indent="0" marL="0">
              <a:buNone/>
            </a:pPr>
            <a:r>
              <a:rPr lang="en-US" sz="1350" dirty="0">
                <a:solidFill>
                  <a:srgbClr val="3F4A56"/>
                </a:solidFill>
                <a:latin typeface="Calibri" pitchFamily="34" charset="0"/>
                <a:ea typeface="Calibri" pitchFamily="34" charset="-122"/>
                <a:cs typeface="Calibri" pitchFamily="34" charset="-120"/>
              </a:rPr>
              <a:t>Claiming it raises the legal ceiling instead of lowering the spending underneath it.</a:t>
            </a:r>
            <a:endParaRPr lang="en-US" sz="1350" dirty="0"/>
          </a:p>
          <a:p>
            <a:pPr indent="0" marL="0">
              <a:buNone/>
            </a:pPr>
            <a:endParaRPr lang="en-US" sz="1350" dirty="0"/>
          </a:p>
          <a:p>
            <a:pPr indent="0" marL="0">
              <a:buNone/>
            </a:pPr>
            <a:r>
              <a:rPr lang="en-US" sz="1350" dirty="0">
                <a:solidFill>
                  <a:srgbClr val="3F4A56"/>
                </a:solidFill>
                <a:latin typeface="Calibri" pitchFamily="34" charset="0"/>
                <a:ea typeface="Calibri" pitchFamily="34" charset="-122"/>
                <a:cs typeface="Calibri" pitchFamily="34" charset="-120"/>
              </a:rPr>
              <a:t>My estimate uses PBA and SOA payroll as a stand-in for the State’s salary base, so the real figure will differ. Your retirement bills would settle it in an afternoon.</a:t>
            </a:r>
            <a:endParaRPr lang="en-US" sz="1350" dirty="0"/>
          </a:p>
        </p:txBody>
      </p:sp>
      <p:sp>
        <p:nvSpPr>
          <p:cNvPr id="18" name="Text 16"/>
          <p:cNvSpPr/>
          <p:nvPr/>
        </p:nvSpPr>
        <p:spPr>
          <a:xfrm>
            <a:off x="548640" y="6035040"/>
            <a:ext cx="11064240" cy="292608"/>
          </a:xfrm>
          <a:prstGeom prst="rect">
            <a:avLst/>
          </a:prstGeom>
          <a:noFill/>
          <a:ln/>
        </p:spPr>
        <p:txBody>
          <a:bodyPr wrap="square" rtlCol="0" anchor="ctr"/>
          <a:lstStyle/>
          <a:p>
            <a:pPr indent="0" marL="0">
              <a:buNone/>
            </a:pPr>
            <a:r>
              <a:rPr lang="en-US" sz="1000" dirty="0">
                <a:solidFill>
                  <a:srgbClr val="6B7A8A"/>
                </a:solidFill>
                <a:latin typeface="Calibri" pitchFamily="34" charset="0"/>
                <a:ea typeface="Calibri" pitchFamily="34" charset="-122"/>
                <a:cs typeface="Calibri" pitchFamily="34" charset="-120"/>
              </a:rPr>
              <a:t>Source: NYS Office of the State Comptroller, employer contribution rates for SFY 2026-27.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TOGETHER</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The five measures cover the gap</a:t>
            </a:r>
            <a:endParaRPr lang="en-US" sz="3400" dirty="0"/>
          </a:p>
        </p:txBody>
      </p:sp>
      <p:graphicFrame>
        <p:nvGraphicFramePr>
          <p:cNvPr id="4" name="Chart 0" descr=""/>
          <p:cNvGraphicFramePr/>
          <p:nvPr/>
        </p:nvGraphicFramePr>
        <p:xfrm>
          <a:off x="548640" y="178308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863840" y="1920240"/>
            <a:ext cx="3749040" cy="685800"/>
          </a:xfrm>
          <a:prstGeom prst="rect">
            <a:avLst/>
          </a:prstGeom>
          <a:noFill/>
          <a:ln/>
        </p:spPr>
        <p:txBody>
          <a:bodyPr wrap="square" rtlCol="0" anchor="ctr"/>
          <a:lstStyle/>
          <a:p>
            <a:pPr indent="0" marL="0">
              <a:buNone/>
            </a:pPr>
            <a:r>
              <a:rPr lang="en-US" sz="3800" b="1" dirty="0">
                <a:solidFill>
                  <a:srgbClr val="1F2933"/>
                </a:solidFill>
                <a:latin typeface="Cambria" pitchFamily="34" charset="0"/>
                <a:ea typeface="Cambria" pitchFamily="34" charset="-122"/>
                <a:cs typeface="Cambria" pitchFamily="34" charset="-120"/>
              </a:rPr>
              <a:t>$2,733,573</a:t>
            </a:r>
            <a:endParaRPr lang="en-US" sz="3800" dirty="0"/>
          </a:p>
        </p:txBody>
      </p:sp>
      <p:sp>
        <p:nvSpPr>
          <p:cNvPr id="6" name="Text 3"/>
          <p:cNvSpPr/>
          <p:nvPr/>
        </p:nvSpPr>
        <p:spPr>
          <a:xfrm>
            <a:off x="7882128" y="2606040"/>
            <a:ext cx="3749040" cy="274320"/>
          </a:xfrm>
          <a:prstGeom prst="rect">
            <a:avLst/>
          </a:prstGeom>
          <a:noFill/>
          <a:ln/>
        </p:spPr>
        <p:txBody>
          <a:bodyPr wrap="square" rtlCol="0" anchor="ctr"/>
          <a:lstStyle/>
          <a:p>
            <a:pPr indent="0" marL="0">
              <a:buNone/>
            </a:pPr>
            <a:r>
              <a:rPr lang="en-US" sz="1300" dirty="0">
                <a:solidFill>
                  <a:srgbClr val="6B7A8A"/>
                </a:solidFill>
                <a:latin typeface="Calibri" pitchFamily="34" charset="0"/>
                <a:ea typeface="Calibri" pitchFamily="34" charset="-122"/>
                <a:cs typeface="Calibri" pitchFamily="34" charset="-120"/>
              </a:rPr>
              <a:t>at the low end of every estimate</a:t>
            </a:r>
            <a:endParaRPr lang="en-US" sz="1300" dirty="0"/>
          </a:p>
        </p:txBody>
      </p:sp>
      <p:sp>
        <p:nvSpPr>
          <p:cNvPr id="7" name="Text 4"/>
          <p:cNvSpPr/>
          <p:nvPr/>
        </p:nvSpPr>
        <p:spPr>
          <a:xfrm>
            <a:off x="7863840" y="3063240"/>
            <a:ext cx="3749040" cy="640080"/>
          </a:xfrm>
          <a:prstGeom prst="rect">
            <a:avLst/>
          </a:prstGeom>
          <a:noFill/>
          <a:ln/>
        </p:spPr>
        <p:txBody>
          <a:bodyPr wrap="square" rtlCol="0" anchor="ctr"/>
          <a:lstStyle/>
          <a:p>
            <a:pPr indent="0" marL="0">
              <a:buNone/>
            </a:pPr>
            <a:r>
              <a:rPr lang="en-US" sz="3800" b="1" dirty="0">
                <a:solidFill>
                  <a:srgbClr val="15803D"/>
                </a:solidFill>
                <a:latin typeface="Cambria" pitchFamily="34" charset="0"/>
                <a:ea typeface="Cambria" pitchFamily="34" charset="-122"/>
                <a:cs typeface="Cambria" pitchFamily="34" charset="-120"/>
              </a:rPr>
              <a:t>99%</a:t>
            </a:r>
            <a:endParaRPr lang="en-US" sz="3800" dirty="0"/>
          </a:p>
        </p:txBody>
      </p:sp>
      <p:sp>
        <p:nvSpPr>
          <p:cNvPr id="8" name="Text 5"/>
          <p:cNvSpPr/>
          <p:nvPr/>
        </p:nvSpPr>
        <p:spPr>
          <a:xfrm>
            <a:off x="7882128" y="3703320"/>
            <a:ext cx="3749040" cy="548640"/>
          </a:xfrm>
          <a:prstGeom prst="rect">
            <a:avLst/>
          </a:prstGeom>
          <a:noFill/>
          <a:ln/>
        </p:spPr>
        <p:txBody>
          <a:bodyPr wrap="square" rtlCol="0" anchor="ctr"/>
          <a:lstStyle/>
          <a:p>
            <a:pPr indent="0" marL="0">
              <a:buNone/>
            </a:pPr>
            <a:r>
              <a:rPr lang="en-US" sz="1300" dirty="0">
                <a:solidFill>
                  <a:srgbClr val="6B7A8A"/>
                </a:solidFill>
                <a:latin typeface="Calibri" pitchFamily="34" charset="0"/>
                <a:ea typeface="Calibri" pitchFamily="34" charset="-122"/>
                <a:cs typeface="Calibri" pitchFamily="34" charset="-120"/>
              </a:rPr>
              <a:t>of the gap covered — 110% if the retirements land at the top of the Town’s own range</a:t>
            </a:r>
            <a:endParaRPr lang="en-US" sz="1300" dirty="0"/>
          </a:p>
        </p:txBody>
      </p:sp>
      <p:sp>
        <p:nvSpPr>
          <p:cNvPr id="9" name="Text 6"/>
          <p:cNvSpPr/>
          <p:nvPr/>
        </p:nvSpPr>
        <p:spPr>
          <a:xfrm>
            <a:off x="7863840" y="4434840"/>
            <a:ext cx="3749040" cy="1463040"/>
          </a:xfrm>
          <a:prstGeom prst="rect">
            <a:avLst/>
          </a:prstGeom>
          <a:noFill/>
          <a:ln/>
        </p:spPr>
        <p:txBody>
          <a:bodyPr wrap="square" rtlCol="0" anchor="t"/>
          <a:lstStyle/>
          <a:p>
            <a:pPr indent="0" marL="0">
              <a:buNone/>
            </a:pPr>
            <a:r>
              <a:rPr lang="en-US" sz="1250" i="1" dirty="0">
                <a:solidFill>
                  <a:srgbClr val="3F4A56"/>
                </a:solidFill>
                <a:latin typeface="Calibri" pitchFamily="34" charset="0"/>
                <a:ea typeface="Calibri" pitchFamily="34" charset="-122"/>
                <a:cs typeface="Calibri" pitchFamily="34" charset="-120"/>
              </a:rPr>
              <a:t>Assume I’m wrong about a good deal of this. Say half the trims are unavailable and the retirements come in low — that still leaves about $1.9M, which turns a $2.76M override into a much smaller one you could explain at a hearing.</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TWO SHORTCUTS</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What I’d steer you away from</a:t>
            </a:r>
            <a:endParaRPr lang="en-US" sz="3400" dirty="0"/>
          </a:p>
        </p:txBody>
      </p:sp>
      <p:sp>
        <p:nvSpPr>
          <p:cNvPr id="4" name="Text 2"/>
          <p:cNvSpPr/>
          <p:nvPr/>
        </p:nvSpPr>
        <p:spPr>
          <a:xfrm>
            <a:off x="548640" y="1783080"/>
            <a:ext cx="5486400" cy="365760"/>
          </a:xfrm>
          <a:prstGeom prst="rect">
            <a:avLst/>
          </a:prstGeom>
          <a:noFill/>
          <a:ln/>
        </p:spPr>
        <p:txBody>
          <a:bodyPr wrap="square" rtlCol="0" anchor="ctr"/>
          <a:lstStyle/>
          <a:p>
            <a:pPr indent="0" marL="0">
              <a:buNone/>
            </a:pPr>
            <a:r>
              <a:rPr lang="en-US" sz="2100" b="1" dirty="0">
                <a:solidFill>
                  <a:srgbClr val="1F2933"/>
                </a:solidFill>
                <a:latin typeface="Cambria" pitchFamily="34" charset="0"/>
                <a:ea typeface="Cambria" pitchFamily="34" charset="-122"/>
                <a:cs typeface="Cambria" pitchFamily="34" charset="-120"/>
              </a:rPr>
              <a:t>The across-the-board cut</a:t>
            </a:r>
            <a:endParaRPr lang="en-US" sz="2100" dirty="0"/>
          </a:p>
        </p:txBody>
      </p:sp>
      <p:sp>
        <p:nvSpPr>
          <p:cNvPr id="5" name="Text 3"/>
          <p:cNvSpPr/>
          <p:nvPr/>
        </p:nvSpPr>
        <p:spPr>
          <a:xfrm>
            <a:off x="548640" y="2194560"/>
            <a:ext cx="5486400" cy="365760"/>
          </a:xfrm>
          <a:prstGeom prst="rect">
            <a:avLst/>
          </a:prstGeom>
          <a:noFill/>
          <a:ln/>
        </p:spPr>
        <p:txBody>
          <a:bodyPr wrap="square" rtlCol="0" anchor="ctr"/>
          <a:lstStyle/>
          <a:p>
            <a:pPr indent="0" marL="0">
              <a:buNone/>
            </a:pPr>
            <a:r>
              <a:rPr lang="en-US" sz="1350" dirty="0">
                <a:solidFill>
                  <a:srgbClr val="3F4A56"/>
                </a:solidFill>
                <a:latin typeface="Calibri" pitchFamily="34" charset="0"/>
                <a:ea typeface="Calibri" pitchFamily="34" charset="-122"/>
                <a:cs typeface="Calibri" pitchFamily="34" charset="-120"/>
              </a:rPr>
              <a:t>“Every department finds 2.5%” sounds fair and sounds like $1.7M. It’s neither.</a:t>
            </a:r>
            <a:endParaRPr lang="en-US" sz="1350" dirty="0"/>
          </a:p>
        </p:txBody>
      </p:sp>
      <p:graphicFrame>
        <p:nvGraphicFramePr>
          <p:cNvPr id="6" name="Chart 0" descr=""/>
          <p:cNvGraphicFramePr/>
          <p:nvPr/>
        </p:nvGraphicFramePr>
        <p:xfrm>
          <a:off x="548640" y="2606040"/>
          <a:ext cx="539496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48640" y="5623560"/>
            <a:ext cx="5394960" cy="457200"/>
          </a:xfrm>
          <a:prstGeom prst="rect">
            <a:avLst/>
          </a:prstGeom>
          <a:noFill/>
          <a:ln/>
        </p:spPr>
        <p:txBody>
          <a:bodyPr wrap="square" rtlCol="0" anchor="t"/>
          <a:lstStyle/>
          <a:p>
            <a:pPr indent="0" marL="0">
              <a:buNone/>
            </a:pPr>
            <a:r>
              <a:rPr lang="en-US" sz="1200" dirty="0">
                <a:solidFill>
                  <a:srgbClr val="6B7A8A"/>
                </a:solidFill>
                <a:latin typeface="Calibri" pitchFamily="34" charset="0"/>
                <a:ea typeface="Calibri" pitchFamily="34" charset="-122"/>
                <a:cs typeface="Calibri" pitchFamily="34" charset="-120"/>
              </a:rPr>
              <a:t>Three-quarters of the General Fund is salaries, pensions, debt and insurance — none of it moves because a memo says so.</a:t>
            </a:r>
            <a:endParaRPr lang="en-US" sz="1200" dirty="0"/>
          </a:p>
        </p:txBody>
      </p:sp>
      <p:sp>
        <p:nvSpPr>
          <p:cNvPr id="8" name="Text 5"/>
          <p:cNvSpPr/>
          <p:nvPr/>
        </p:nvSpPr>
        <p:spPr>
          <a:xfrm>
            <a:off x="6400800" y="1783080"/>
            <a:ext cx="5212080" cy="365760"/>
          </a:xfrm>
          <a:prstGeom prst="rect">
            <a:avLst/>
          </a:prstGeom>
          <a:noFill/>
          <a:ln/>
        </p:spPr>
        <p:txBody>
          <a:bodyPr wrap="square" rtlCol="0" anchor="ctr"/>
          <a:lstStyle/>
          <a:p>
            <a:pPr indent="0" marL="0">
              <a:buNone/>
            </a:pPr>
            <a:r>
              <a:rPr lang="en-US" sz="2100" b="1" dirty="0">
                <a:solidFill>
                  <a:srgbClr val="1F2933"/>
                </a:solidFill>
                <a:latin typeface="Cambria" pitchFamily="34" charset="0"/>
                <a:ea typeface="Cambria" pitchFamily="34" charset="-122"/>
                <a:cs typeface="Cambria" pitchFamily="34" charset="-120"/>
              </a:rPr>
              <a:t>Paying for it out of fund balance</a:t>
            </a:r>
            <a:endParaRPr lang="en-US" sz="2100" dirty="0"/>
          </a:p>
        </p:txBody>
      </p:sp>
      <p:sp>
        <p:nvSpPr>
          <p:cNvPr id="9" name="Shape 6"/>
          <p:cNvSpPr/>
          <p:nvPr/>
        </p:nvSpPr>
        <p:spPr>
          <a:xfrm>
            <a:off x="6400800" y="2240280"/>
            <a:ext cx="5212080" cy="1371600"/>
          </a:xfrm>
          <a:prstGeom prst="roundRect">
            <a:avLst>
              <a:gd name="adj" fmla="val 5333"/>
            </a:avLst>
          </a:prstGeom>
          <a:solidFill>
            <a:srgbClr val="FDF1F1"/>
          </a:solidFill>
          <a:ln w="12700">
            <a:solidFill>
              <a:srgbClr val="D8E0E7"/>
            </a:solidFill>
            <a:prstDash val="solid"/>
          </a:ln>
        </p:spPr>
      </p:sp>
      <p:sp>
        <p:nvSpPr>
          <p:cNvPr id="10" name="Text 7"/>
          <p:cNvSpPr/>
          <p:nvPr/>
        </p:nvSpPr>
        <p:spPr>
          <a:xfrm>
            <a:off x="6675120" y="2395728"/>
            <a:ext cx="4663440" cy="320040"/>
          </a:xfrm>
          <a:prstGeom prst="rect">
            <a:avLst/>
          </a:prstGeom>
          <a:noFill/>
          <a:ln/>
        </p:spPr>
        <p:txBody>
          <a:bodyPr wrap="square" rtlCol="0" anchor="ctr"/>
          <a:lstStyle/>
          <a:p>
            <a:pPr indent="0" marL="0">
              <a:buNone/>
            </a:pPr>
            <a:r>
              <a:rPr lang="en-US" sz="1400" b="1" dirty="0">
                <a:solidFill>
                  <a:srgbClr val="B91C1C"/>
                </a:solidFill>
                <a:latin typeface="Calibri" pitchFamily="34" charset="0"/>
                <a:ea typeface="Calibri" pitchFamily="34" charset="-122"/>
                <a:cs typeface="Calibri" pitchFamily="34" charset="-120"/>
              </a:rPr>
              <a:t>This is the easiest vote in front of you.</a:t>
            </a:r>
            <a:endParaRPr lang="en-US" sz="1400" dirty="0"/>
          </a:p>
        </p:txBody>
      </p:sp>
      <p:sp>
        <p:nvSpPr>
          <p:cNvPr id="11" name="Text 8"/>
          <p:cNvSpPr/>
          <p:nvPr/>
        </p:nvSpPr>
        <p:spPr>
          <a:xfrm>
            <a:off x="6675120" y="2697480"/>
            <a:ext cx="4663440" cy="777240"/>
          </a:xfrm>
          <a:prstGeom prst="rect">
            <a:avLst/>
          </a:prstGeom>
          <a:noFill/>
          <a:ln/>
        </p:spPr>
        <p:txBody>
          <a:bodyPr wrap="square" rtlCol="0" anchor="t"/>
          <a:lstStyle/>
          <a:p>
            <a:pPr indent="0" marL="0">
              <a:buNone/>
            </a:pPr>
            <a:r>
              <a:rPr lang="en-US" sz="1300" dirty="0">
                <a:solidFill>
                  <a:srgbClr val="3F4A56"/>
                </a:solidFill>
                <a:latin typeface="Calibri" pitchFamily="34" charset="0"/>
                <a:ea typeface="Calibri" pitchFamily="34" charset="-122"/>
                <a:cs typeface="Calibri" pitchFamily="34" charset="-120"/>
              </a:rPr>
              <a:t>Nobody’s taxes go up, no service gets cut, no department gets a phone call.</a:t>
            </a:r>
            <a:endParaRPr lang="en-US" sz="1300" dirty="0"/>
          </a:p>
        </p:txBody>
      </p:sp>
      <p:sp>
        <p:nvSpPr>
          <p:cNvPr id="12" name="Text 9"/>
          <p:cNvSpPr/>
          <p:nvPr/>
        </p:nvSpPr>
        <p:spPr>
          <a:xfrm>
            <a:off x="6400800" y="3794760"/>
            <a:ext cx="5212080" cy="640080"/>
          </a:xfrm>
          <a:prstGeom prst="rect">
            <a:avLst/>
          </a:prstGeom>
          <a:noFill/>
          <a:ln/>
        </p:spPr>
        <p:txBody>
          <a:bodyPr wrap="square" rtlCol="0" anchor="t"/>
          <a:lstStyle/>
          <a:p>
            <a:pPr indent="0" marL="0">
              <a:buNone/>
            </a:pPr>
            <a:r>
              <a:rPr lang="en-US" sz="1800" b="1" dirty="0">
                <a:solidFill>
                  <a:srgbClr val="1F2933"/>
                </a:solidFill>
                <a:latin typeface="Cambria" pitchFamily="34" charset="0"/>
                <a:ea typeface="Cambria" pitchFamily="34" charset="-122"/>
                <a:cs typeface="Cambria" pitchFamily="34" charset="-120"/>
              </a:rPr>
              <a:t>But the gap is a bill that comes every year, and fund balance is a one-time check.</a:t>
            </a:r>
            <a:endParaRPr lang="en-US" sz="1800" dirty="0"/>
          </a:p>
        </p:txBody>
      </p:sp>
      <p:sp>
        <p:nvSpPr>
          <p:cNvPr id="13" name="Text 10"/>
          <p:cNvSpPr/>
          <p:nvPr/>
        </p:nvSpPr>
        <p:spPr>
          <a:xfrm>
            <a:off x="6400800" y="4526280"/>
            <a:ext cx="5212080" cy="1371600"/>
          </a:xfrm>
          <a:prstGeom prst="rect">
            <a:avLst/>
          </a:prstGeom>
          <a:noFill/>
          <a:ln/>
        </p:spPr>
        <p:txBody>
          <a:bodyPr wrap="square" rtlCol="0" anchor="t"/>
          <a:lstStyle/>
          <a:p>
            <a:pPr indent="0" marL="0">
              <a:buNone/>
            </a:pPr>
            <a:r>
              <a:rPr lang="en-US" sz="1350" dirty="0">
                <a:solidFill>
                  <a:srgbClr val="3F4A56"/>
                </a:solidFill>
                <a:latin typeface="Calibri" pitchFamily="34" charset="0"/>
                <a:ea typeface="Calibri" pitchFamily="34" charset="-122"/>
                <a:cs typeface="Calibri" pitchFamily="34" charset="-120"/>
              </a:rPr>
              <a:t>Write it and the same gap is back in 2028 with about 8.3% less cushion behind it.</a:t>
            </a:r>
            <a:endParaRPr lang="en-US" sz="1350" dirty="0"/>
          </a:p>
          <a:p>
            <a:pPr indent="0" marL="0">
              <a:buNone/>
            </a:pPr>
            <a:endParaRPr lang="en-US" sz="1350" dirty="0"/>
          </a:p>
          <a:p>
            <a:pPr indent="0" marL="0">
              <a:buNone/>
            </a:pPr>
            <a:r>
              <a:rPr lang="en-US" sz="1350" dirty="0">
                <a:solidFill>
                  <a:srgbClr val="3F4A56"/>
                </a:solidFill>
                <a:latin typeface="Calibri" pitchFamily="34" charset="0"/>
                <a:ea typeface="Calibri" pitchFamily="34" charset="-122"/>
                <a:cs typeface="Calibri" pitchFamily="34" charset="-120"/>
              </a:rPr>
              <a:t>Fund balance is the right tool for whatever is left over after the real measures. It’s the wrong tool for the whole thing.</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WHILE YOU ARE AT IT</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Three things worth deciding this year</a:t>
            </a:r>
            <a:endParaRPr lang="en-US" sz="3400" dirty="0"/>
          </a:p>
        </p:txBody>
      </p:sp>
      <p:sp>
        <p:nvSpPr>
          <p:cNvPr id="4" name="Shape 2"/>
          <p:cNvSpPr/>
          <p:nvPr/>
        </p:nvSpPr>
        <p:spPr>
          <a:xfrm>
            <a:off x="548640" y="1783080"/>
            <a:ext cx="3520440" cy="3977640"/>
          </a:xfrm>
          <a:prstGeom prst="roundRect">
            <a:avLst>
              <a:gd name="adj" fmla="val 2078"/>
            </a:avLst>
          </a:prstGeom>
          <a:solidFill>
            <a:srgbClr val="FFFFFF"/>
          </a:solidFill>
          <a:ln w="12700">
            <a:solidFill>
              <a:srgbClr val="D8E0E7"/>
            </a:solidFill>
            <a:prstDash val="solid"/>
          </a:ln>
        </p:spPr>
      </p:sp>
      <p:sp>
        <p:nvSpPr>
          <p:cNvPr id="5" name="Shape 3"/>
          <p:cNvSpPr/>
          <p:nvPr/>
        </p:nvSpPr>
        <p:spPr>
          <a:xfrm>
            <a:off x="822960" y="2011680"/>
            <a:ext cx="384048" cy="384048"/>
          </a:xfrm>
          <a:prstGeom prst="roundRect">
            <a:avLst>
              <a:gd name="adj" fmla="val 14286"/>
            </a:avLst>
          </a:prstGeom>
          <a:solidFill>
            <a:srgbClr val="2E6FB7"/>
          </a:solidFill>
          <a:ln/>
        </p:spPr>
      </p:sp>
      <p:sp>
        <p:nvSpPr>
          <p:cNvPr id="6" name="Text 4"/>
          <p:cNvSpPr/>
          <p:nvPr/>
        </p:nvSpPr>
        <p:spPr>
          <a:xfrm>
            <a:off x="1371600" y="2011680"/>
            <a:ext cx="2560320" cy="384048"/>
          </a:xfrm>
          <a:prstGeom prst="rect">
            <a:avLst/>
          </a:prstGeom>
          <a:noFill/>
          <a:ln/>
        </p:spPr>
        <p:txBody>
          <a:bodyPr wrap="square"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Retiree health</a:t>
            </a:r>
            <a:endParaRPr lang="en-US" sz="1400" dirty="0"/>
          </a:p>
        </p:txBody>
      </p:sp>
      <p:sp>
        <p:nvSpPr>
          <p:cNvPr id="7" name="Text 5"/>
          <p:cNvSpPr/>
          <p:nvPr/>
        </p:nvSpPr>
        <p:spPr>
          <a:xfrm>
            <a:off x="822960" y="2560320"/>
            <a:ext cx="3017520" cy="594360"/>
          </a:xfrm>
          <a:prstGeom prst="rect">
            <a:avLst/>
          </a:prstGeom>
          <a:noFill/>
          <a:ln/>
        </p:spPr>
        <p:txBody>
          <a:bodyPr wrap="square" rtlCol="0" anchor="ctr"/>
          <a:lstStyle/>
          <a:p>
            <a:pPr indent="0" marL="0">
              <a:buNone/>
            </a:pPr>
            <a:r>
              <a:rPr lang="en-US" sz="2700" b="1" dirty="0">
                <a:solidFill>
                  <a:srgbClr val="2E6FB7"/>
                </a:solidFill>
                <a:latin typeface="Cambria" pitchFamily="34" charset="0"/>
                <a:ea typeface="Cambria" pitchFamily="34" charset="-122"/>
                <a:cs typeface="Cambria" pitchFamily="34" charset="-120"/>
              </a:rPr>
              <a:t>$152,597,117</a:t>
            </a:r>
            <a:endParaRPr lang="en-US" sz="2700" dirty="0"/>
          </a:p>
        </p:txBody>
      </p:sp>
      <p:sp>
        <p:nvSpPr>
          <p:cNvPr id="8" name="Text 6"/>
          <p:cNvSpPr/>
          <p:nvPr/>
        </p:nvSpPr>
        <p:spPr>
          <a:xfrm>
            <a:off x="841248" y="3154680"/>
            <a:ext cx="3017520" cy="274320"/>
          </a:xfrm>
          <a:prstGeom prst="rect">
            <a:avLst/>
          </a:prstGeom>
          <a:noFill/>
          <a:ln/>
        </p:spPr>
        <p:txBody>
          <a:bodyPr wrap="square" rtlCol="0" anchor="ctr"/>
          <a:lstStyle/>
          <a:p>
            <a:pPr indent="0" marL="0">
              <a:buNone/>
            </a:pPr>
            <a:r>
              <a:rPr lang="en-US" sz="1150" dirty="0">
                <a:solidFill>
                  <a:srgbClr val="6B7A8A"/>
                </a:solidFill>
                <a:latin typeface="Calibri" pitchFamily="34" charset="0"/>
                <a:ea typeface="Calibri" pitchFamily="34" charset="-122"/>
                <a:cs typeface="Calibri" pitchFamily="34" charset="-120"/>
              </a:rPr>
              <a:t>unfunded, pay-as-you-go</a:t>
            </a:r>
            <a:endParaRPr lang="en-US" sz="1150" dirty="0"/>
          </a:p>
        </p:txBody>
      </p:sp>
      <p:sp>
        <p:nvSpPr>
          <p:cNvPr id="9" name="Text 7"/>
          <p:cNvSpPr/>
          <p:nvPr/>
        </p:nvSpPr>
        <p:spPr>
          <a:xfrm>
            <a:off x="822960" y="3520440"/>
            <a:ext cx="3017520" cy="2103120"/>
          </a:xfrm>
          <a:prstGeom prst="rect">
            <a:avLst/>
          </a:prstGeom>
          <a:noFill/>
          <a:ln/>
        </p:spPr>
        <p:txBody>
          <a:bodyPr wrap="square" rtlCol="0" anchor="t"/>
          <a:lstStyle/>
          <a:p>
            <a:pPr indent="0" marL="0">
              <a:buNone/>
            </a:pPr>
            <a:r>
              <a:rPr lang="en-US" sz="1200" dirty="0">
                <a:solidFill>
                  <a:srgbClr val="3F4A56"/>
                </a:solidFill>
                <a:latin typeface="Calibri" pitchFamily="34" charset="0"/>
                <a:ea typeface="Calibri" pitchFamily="34" charset="-122"/>
                <a:cs typeface="Calibri" pitchFamily="34" charset="-120"/>
              </a:rPr>
              <a:t>Fourth highest per resident of ten Suffolk towns, and the drag Moody’s named in 2021. A § 6-r trust can shrink the reported liability itself, because a funded plan discounts at its expected return instead of a low bond rate.</a:t>
            </a:r>
            <a:endParaRPr lang="en-US" sz="1200" dirty="0"/>
          </a:p>
        </p:txBody>
      </p:sp>
      <p:sp>
        <p:nvSpPr>
          <p:cNvPr id="10" name="Shape 8"/>
          <p:cNvSpPr/>
          <p:nvPr/>
        </p:nvSpPr>
        <p:spPr>
          <a:xfrm>
            <a:off x="4343400" y="1783080"/>
            <a:ext cx="3520440" cy="3977640"/>
          </a:xfrm>
          <a:prstGeom prst="roundRect">
            <a:avLst>
              <a:gd name="adj" fmla="val 2078"/>
            </a:avLst>
          </a:prstGeom>
          <a:solidFill>
            <a:srgbClr val="FFFFFF"/>
          </a:solidFill>
          <a:ln w="12700">
            <a:solidFill>
              <a:srgbClr val="D8E0E7"/>
            </a:solidFill>
            <a:prstDash val="solid"/>
          </a:ln>
        </p:spPr>
      </p:sp>
      <p:sp>
        <p:nvSpPr>
          <p:cNvPr id="11" name="Shape 9"/>
          <p:cNvSpPr/>
          <p:nvPr/>
        </p:nvSpPr>
        <p:spPr>
          <a:xfrm>
            <a:off x="4617720" y="2011680"/>
            <a:ext cx="384048" cy="384048"/>
          </a:xfrm>
          <a:prstGeom prst="roundRect">
            <a:avLst>
              <a:gd name="adj" fmla="val 14286"/>
            </a:avLst>
          </a:prstGeom>
          <a:solidFill>
            <a:srgbClr val="109184"/>
          </a:solidFill>
          <a:ln/>
        </p:spPr>
      </p:sp>
      <p:sp>
        <p:nvSpPr>
          <p:cNvPr id="12" name="Text 10"/>
          <p:cNvSpPr/>
          <p:nvPr/>
        </p:nvSpPr>
        <p:spPr>
          <a:xfrm>
            <a:off x="5166360" y="2011680"/>
            <a:ext cx="2560320" cy="384048"/>
          </a:xfrm>
          <a:prstGeom prst="rect">
            <a:avLst/>
          </a:prstGeom>
          <a:noFill/>
          <a:ln/>
        </p:spPr>
        <p:txBody>
          <a:bodyPr wrap="square"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Fund balance</a:t>
            </a:r>
            <a:endParaRPr lang="en-US" sz="1400" dirty="0"/>
          </a:p>
        </p:txBody>
      </p:sp>
      <p:sp>
        <p:nvSpPr>
          <p:cNvPr id="13" name="Text 11"/>
          <p:cNvSpPr/>
          <p:nvPr/>
        </p:nvSpPr>
        <p:spPr>
          <a:xfrm>
            <a:off x="4617720" y="2560320"/>
            <a:ext cx="3017520" cy="594360"/>
          </a:xfrm>
          <a:prstGeom prst="rect">
            <a:avLst/>
          </a:prstGeom>
          <a:noFill/>
          <a:ln/>
        </p:spPr>
        <p:txBody>
          <a:bodyPr wrap="square" rtlCol="0" anchor="ctr"/>
          <a:lstStyle/>
          <a:p>
            <a:pPr indent="0" marL="0">
              <a:buNone/>
            </a:pPr>
            <a:r>
              <a:rPr lang="en-US" sz="2700" b="1" dirty="0">
                <a:solidFill>
                  <a:srgbClr val="109184"/>
                </a:solidFill>
                <a:latin typeface="Cambria" pitchFamily="34" charset="0"/>
                <a:ea typeface="Cambria" pitchFamily="34" charset="-122"/>
                <a:cs typeface="Cambria" pitchFamily="34" charset="-120"/>
              </a:rPr>
              <a:t>42.9%</a:t>
            </a:r>
            <a:endParaRPr lang="en-US" sz="2700" dirty="0"/>
          </a:p>
        </p:txBody>
      </p:sp>
      <p:sp>
        <p:nvSpPr>
          <p:cNvPr id="14" name="Text 12"/>
          <p:cNvSpPr/>
          <p:nvPr/>
        </p:nvSpPr>
        <p:spPr>
          <a:xfrm>
            <a:off x="4636008" y="3154680"/>
            <a:ext cx="3017520" cy="274320"/>
          </a:xfrm>
          <a:prstGeom prst="rect">
            <a:avLst/>
          </a:prstGeom>
          <a:noFill/>
          <a:ln/>
        </p:spPr>
        <p:txBody>
          <a:bodyPr wrap="square" rtlCol="0" anchor="ctr"/>
          <a:lstStyle/>
          <a:p>
            <a:pPr indent="0" marL="0">
              <a:buNone/>
            </a:pPr>
            <a:r>
              <a:rPr lang="en-US" sz="1150" dirty="0">
                <a:solidFill>
                  <a:srgbClr val="6B7A8A"/>
                </a:solidFill>
                <a:latin typeface="Calibri" pitchFamily="34" charset="0"/>
                <a:ea typeface="Calibri" pitchFamily="34" charset="-122"/>
                <a:cs typeface="Calibri" pitchFamily="34" charset="-120"/>
              </a:rPr>
              <a:t>of General Fund spending</a:t>
            </a:r>
            <a:endParaRPr lang="en-US" sz="1150" dirty="0"/>
          </a:p>
        </p:txBody>
      </p:sp>
      <p:sp>
        <p:nvSpPr>
          <p:cNvPr id="15" name="Text 13"/>
          <p:cNvSpPr/>
          <p:nvPr/>
        </p:nvSpPr>
        <p:spPr>
          <a:xfrm>
            <a:off x="4617720" y="3520440"/>
            <a:ext cx="3017520" cy="2103120"/>
          </a:xfrm>
          <a:prstGeom prst="rect">
            <a:avLst/>
          </a:prstGeom>
          <a:noFill/>
          <a:ln/>
        </p:spPr>
        <p:txBody>
          <a:bodyPr wrap="square" rtlCol="0" anchor="t"/>
          <a:lstStyle/>
          <a:p>
            <a:pPr indent="0" marL="0">
              <a:buNone/>
            </a:pPr>
            <a:r>
              <a:rPr lang="en-US" sz="1200" dirty="0">
                <a:solidFill>
                  <a:srgbClr val="3F4A56"/>
                </a:solidFill>
                <a:latin typeface="Calibri" pitchFamily="34" charset="0"/>
                <a:ea typeface="Calibri" pitchFamily="34" charset="-122"/>
                <a:cs typeface="Calibri" pitchFamily="34" charset="-120"/>
              </a:rPr>
              <a:t>$29,671,084 unassigned at the end of 2025, against a usual target of 15–20%. A large cushion is a strength the rating agencies reward. The gap is that there is no written policy saying what the target is.</a:t>
            </a:r>
            <a:endParaRPr lang="en-US" sz="1200" dirty="0"/>
          </a:p>
        </p:txBody>
      </p:sp>
      <p:sp>
        <p:nvSpPr>
          <p:cNvPr id="16" name="Shape 14"/>
          <p:cNvSpPr/>
          <p:nvPr/>
        </p:nvSpPr>
        <p:spPr>
          <a:xfrm>
            <a:off x="8138160" y="1783080"/>
            <a:ext cx="3520440" cy="3977640"/>
          </a:xfrm>
          <a:prstGeom prst="roundRect">
            <a:avLst>
              <a:gd name="adj" fmla="val 2078"/>
            </a:avLst>
          </a:prstGeom>
          <a:solidFill>
            <a:srgbClr val="FFFFFF"/>
          </a:solidFill>
          <a:ln w="12700">
            <a:solidFill>
              <a:srgbClr val="D8E0E7"/>
            </a:solidFill>
            <a:prstDash val="solid"/>
          </a:ln>
        </p:spPr>
      </p:sp>
      <p:sp>
        <p:nvSpPr>
          <p:cNvPr id="17" name="Shape 15"/>
          <p:cNvSpPr/>
          <p:nvPr/>
        </p:nvSpPr>
        <p:spPr>
          <a:xfrm>
            <a:off x="8412480" y="2011680"/>
            <a:ext cx="384048" cy="384048"/>
          </a:xfrm>
          <a:prstGeom prst="roundRect">
            <a:avLst>
              <a:gd name="adj" fmla="val 14286"/>
            </a:avLst>
          </a:prstGeom>
          <a:solidFill>
            <a:srgbClr val="8158CC"/>
          </a:solidFill>
          <a:ln/>
        </p:spPr>
      </p:sp>
      <p:sp>
        <p:nvSpPr>
          <p:cNvPr id="18" name="Text 16"/>
          <p:cNvSpPr/>
          <p:nvPr/>
        </p:nvSpPr>
        <p:spPr>
          <a:xfrm>
            <a:off x="8961120" y="2011680"/>
            <a:ext cx="2560320" cy="384048"/>
          </a:xfrm>
          <a:prstGeom prst="rect">
            <a:avLst/>
          </a:prstGeom>
          <a:noFill/>
          <a:ln/>
        </p:spPr>
        <p:txBody>
          <a:bodyPr wrap="square"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Community housing</a:t>
            </a:r>
            <a:endParaRPr lang="en-US" sz="1400" dirty="0"/>
          </a:p>
        </p:txBody>
      </p:sp>
      <p:sp>
        <p:nvSpPr>
          <p:cNvPr id="19" name="Text 17"/>
          <p:cNvSpPr/>
          <p:nvPr/>
        </p:nvSpPr>
        <p:spPr>
          <a:xfrm>
            <a:off x="8412480" y="2560320"/>
            <a:ext cx="3017520" cy="594360"/>
          </a:xfrm>
          <a:prstGeom prst="rect">
            <a:avLst/>
          </a:prstGeom>
          <a:noFill/>
          <a:ln/>
        </p:spPr>
        <p:txBody>
          <a:bodyPr wrap="square" rtlCol="0" anchor="ctr"/>
          <a:lstStyle/>
          <a:p>
            <a:pPr indent="0" marL="0">
              <a:buNone/>
            </a:pPr>
            <a:r>
              <a:rPr lang="en-US" sz="2700" b="1" dirty="0">
                <a:solidFill>
                  <a:srgbClr val="8158CC"/>
                </a:solidFill>
                <a:latin typeface="Cambria" pitchFamily="34" charset="0"/>
                <a:ea typeface="Cambria" pitchFamily="34" charset="-122"/>
                <a:cs typeface="Cambria" pitchFamily="34" charset="-120"/>
              </a:rPr>
              <a:t>$5.5–5.9M</a:t>
            </a:r>
            <a:endParaRPr lang="en-US" sz="2700" dirty="0"/>
          </a:p>
        </p:txBody>
      </p:sp>
      <p:sp>
        <p:nvSpPr>
          <p:cNvPr id="20" name="Text 18"/>
          <p:cNvSpPr/>
          <p:nvPr/>
        </p:nvSpPr>
        <p:spPr>
          <a:xfrm>
            <a:off x="8430768" y="3154680"/>
            <a:ext cx="3017520" cy="274320"/>
          </a:xfrm>
          <a:prstGeom prst="rect">
            <a:avLst/>
          </a:prstGeom>
          <a:noFill/>
          <a:ln/>
        </p:spPr>
        <p:txBody>
          <a:bodyPr wrap="square" rtlCol="0" anchor="ctr"/>
          <a:lstStyle/>
          <a:p>
            <a:pPr indent="0" marL="0">
              <a:buNone/>
            </a:pPr>
            <a:r>
              <a:rPr lang="en-US" sz="1150" dirty="0">
                <a:solidFill>
                  <a:srgbClr val="6B7A8A"/>
                </a:solidFill>
                <a:latin typeface="Calibri" pitchFamily="34" charset="0"/>
                <a:ea typeface="Calibri" pitchFamily="34" charset="-122"/>
                <a:cs typeface="Calibri" pitchFamily="34" charset="-120"/>
              </a:rPr>
              <a:t>forgone, 2023–2025</a:t>
            </a:r>
            <a:endParaRPr lang="en-US" sz="1150" dirty="0"/>
          </a:p>
        </p:txBody>
      </p:sp>
      <p:sp>
        <p:nvSpPr>
          <p:cNvPr id="21" name="Text 19"/>
          <p:cNvSpPr/>
          <p:nvPr/>
        </p:nvSpPr>
        <p:spPr>
          <a:xfrm>
            <a:off x="8412480" y="3520440"/>
            <a:ext cx="3017520" cy="2103120"/>
          </a:xfrm>
          <a:prstGeom prst="rect">
            <a:avLst/>
          </a:prstGeom>
          <a:noFill/>
          <a:ln/>
        </p:spPr>
        <p:txBody>
          <a:bodyPr wrap="square" rtlCol="0" anchor="t"/>
          <a:lstStyle/>
          <a:p>
            <a:pPr indent="0" marL="0">
              <a:buNone/>
            </a:pPr>
            <a:r>
              <a:rPr lang="en-US" sz="1200" dirty="0">
                <a:solidFill>
                  <a:srgbClr val="3F4A56"/>
                </a:solidFill>
                <a:latin typeface="Calibri" pitchFamily="34" charset="0"/>
                <a:ea typeface="Calibri" pitchFamily="34" charset="-122"/>
                <a:cs typeface="Calibri" pitchFamily="34" charset="-120"/>
              </a:rPr>
              <a:t>Riverhead is the only one of the five Peconic Bay towns without a housing fund or the plan state law requires. Under the statute the tax itself would go to the voters, not the Board.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93776"/>
            <a:ext cx="11064240" cy="256032"/>
          </a:xfrm>
          <a:prstGeom prst="rect">
            <a:avLst/>
          </a:prstGeom>
          <a:noFill/>
          <a:ln/>
        </p:spPr>
        <p:txBody>
          <a:bodyPr wrap="square" rtlCol="0" anchor="ctr"/>
          <a:lstStyle/>
          <a:p>
            <a:pPr indent="0" marL="0">
              <a:buNone/>
            </a:pPr>
            <a:r>
              <a:rPr lang="en-US" sz="1200" b="1" spc="200" kern="0" dirty="0">
                <a:solidFill>
                  <a:srgbClr val="9B6B12"/>
                </a:solidFill>
                <a:latin typeface="Calibri" pitchFamily="34" charset="0"/>
                <a:ea typeface="Calibri" pitchFamily="34" charset="-122"/>
                <a:cs typeface="Calibri" pitchFamily="34" charset="-120"/>
              </a:rPr>
              <a:t>CREDIT WHERE IT’S DUE</a:t>
            </a:r>
            <a:endParaRPr lang="en-US" sz="1200" dirty="0"/>
          </a:p>
        </p:txBody>
      </p:sp>
      <p:sp>
        <p:nvSpPr>
          <p:cNvPr id="3" name="Text 1"/>
          <p:cNvSpPr/>
          <p:nvPr/>
        </p:nvSpPr>
        <p:spPr>
          <a:xfrm>
            <a:off x="548640" y="786384"/>
            <a:ext cx="11064240" cy="658368"/>
          </a:xfrm>
          <a:prstGeom prst="rect">
            <a:avLst/>
          </a:prstGeom>
          <a:noFill/>
          <a:ln/>
        </p:spPr>
        <p:txBody>
          <a:bodyPr wrap="square" rtlCol="0" anchor="ctr"/>
          <a:lstStyle/>
          <a:p>
            <a:pPr indent="0" marL="0">
              <a:buNone/>
            </a:pPr>
            <a:r>
              <a:rPr lang="en-US" sz="3400" b="1" dirty="0">
                <a:solidFill>
                  <a:srgbClr val="142A40"/>
                </a:solidFill>
                <a:latin typeface="Cambria" pitchFamily="34" charset="0"/>
                <a:ea typeface="Cambria" pitchFamily="34" charset="-122"/>
                <a:cs typeface="Cambria" pitchFamily="34" charset="-120"/>
              </a:rPr>
              <a:t>The CPF payoff was the right call</a:t>
            </a:r>
            <a:endParaRPr lang="en-US" sz="3400" dirty="0"/>
          </a:p>
        </p:txBody>
      </p:sp>
      <p:sp>
        <p:nvSpPr>
          <p:cNvPr id="4" name="Shape 2"/>
          <p:cNvSpPr/>
          <p:nvPr/>
        </p:nvSpPr>
        <p:spPr>
          <a:xfrm>
            <a:off x="548640" y="1920240"/>
            <a:ext cx="6766560" cy="3108960"/>
          </a:xfrm>
          <a:prstGeom prst="roundRect">
            <a:avLst>
              <a:gd name="adj" fmla="val 2353"/>
            </a:avLst>
          </a:prstGeom>
          <a:solidFill>
            <a:srgbClr val="FFFFFF"/>
          </a:solidFill>
          <a:ln w="12700">
            <a:solidFill>
              <a:srgbClr val="D8E0E7"/>
            </a:solidFill>
            <a:prstDash val="solid"/>
          </a:ln>
        </p:spPr>
      </p:sp>
      <p:sp>
        <p:nvSpPr>
          <p:cNvPr id="5" name="Text 3"/>
          <p:cNvSpPr/>
          <p:nvPr/>
        </p:nvSpPr>
        <p:spPr>
          <a:xfrm>
            <a:off x="914400" y="2240280"/>
            <a:ext cx="6035040" cy="822960"/>
          </a:xfrm>
          <a:prstGeom prst="rect">
            <a:avLst/>
          </a:prstGeom>
          <a:noFill/>
          <a:ln/>
        </p:spPr>
        <p:txBody>
          <a:bodyPr wrap="square" rtlCol="0" anchor="ctr"/>
          <a:lstStyle/>
          <a:p>
            <a:pPr indent="0" marL="0">
              <a:buNone/>
            </a:pPr>
            <a:r>
              <a:rPr lang="en-US" sz="4600" b="1" dirty="0">
                <a:solidFill>
                  <a:srgbClr val="15803D"/>
                </a:solidFill>
                <a:latin typeface="Cambria" pitchFamily="34" charset="0"/>
                <a:ea typeface="Cambria" pitchFamily="34" charset="-122"/>
                <a:cs typeface="Cambria" pitchFamily="34" charset="-120"/>
              </a:rPr>
              <a:t>$660,000</a:t>
            </a:r>
            <a:endParaRPr lang="en-US" sz="4600" dirty="0"/>
          </a:p>
        </p:txBody>
      </p:sp>
      <p:sp>
        <p:nvSpPr>
          <p:cNvPr id="6" name="Text 4"/>
          <p:cNvSpPr/>
          <p:nvPr/>
        </p:nvSpPr>
        <p:spPr>
          <a:xfrm>
            <a:off x="932688" y="3063240"/>
            <a:ext cx="6035040" cy="320040"/>
          </a:xfrm>
          <a:prstGeom prst="rect">
            <a:avLst/>
          </a:prstGeom>
          <a:noFill/>
          <a:ln/>
        </p:spPr>
        <p:txBody>
          <a:bodyPr wrap="square" rtlCol="0" anchor="ctr"/>
          <a:lstStyle/>
          <a:p>
            <a:pPr indent="0" marL="0">
              <a:buNone/>
            </a:pPr>
            <a:r>
              <a:rPr lang="en-US" sz="1500" dirty="0">
                <a:solidFill>
                  <a:srgbClr val="3F4A56"/>
                </a:solidFill>
                <a:latin typeface="Calibri" pitchFamily="34" charset="0"/>
                <a:ea typeface="Calibri" pitchFamily="34" charset="-122"/>
                <a:cs typeface="Calibri" pitchFamily="34" charset="-120"/>
              </a:rPr>
              <a:t>saved in future interest</a:t>
            </a:r>
            <a:endParaRPr lang="en-US" sz="1500" dirty="0"/>
          </a:p>
        </p:txBody>
      </p:sp>
      <p:sp>
        <p:nvSpPr>
          <p:cNvPr id="7" name="Text 5"/>
          <p:cNvSpPr/>
          <p:nvPr/>
        </p:nvSpPr>
        <p:spPr>
          <a:xfrm>
            <a:off x="914400" y="3520440"/>
            <a:ext cx="6035040" cy="1188720"/>
          </a:xfrm>
          <a:prstGeom prst="rect">
            <a:avLst/>
          </a:prstGeom>
          <a:noFill/>
          <a:ln/>
        </p:spPr>
        <p:txBody>
          <a:bodyPr wrap="square" rtlCol="0" anchor="t"/>
          <a:lstStyle/>
          <a:p>
            <a:pPr indent="0" marL="0">
              <a:buNone/>
            </a:pPr>
            <a:r>
              <a:rPr lang="en-US" sz="1400" dirty="0">
                <a:solidFill>
                  <a:srgbClr val="3F4A56"/>
                </a:solidFill>
                <a:latin typeface="Calibri" pitchFamily="34" charset="0"/>
                <a:ea typeface="Calibri" pitchFamily="34" charset="-122"/>
                <a:cs typeface="Calibri" pitchFamily="34" charset="-120"/>
              </a:rPr>
              <a:t>On July 7 the Board voted unanimously to retire the remaining Community Preservation Fund land-preservation debt about five years early — $7.2M of CPF balance plus roughly $92,000 from the General Fund.</a:t>
            </a:r>
            <a:endParaRPr lang="en-US" sz="1400" dirty="0"/>
          </a:p>
        </p:txBody>
      </p:sp>
      <p:sp>
        <p:nvSpPr>
          <p:cNvPr id="8" name="Text 6"/>
          <p:cNvSpPr/>
          <p:nvPr/>
        </p:nvSpPr>
        <p:spPr>
          <a:xfrm>
            <a:off x="7772400" y="2286000"/>
            <a:ext cx="3840480" cy="1463040"/>
          </a:xfrm>
          <a:prstGeom prst="rect">
            <a:avLst/>
          </a:prstGeom>
          <a:noFill/>
          <a:ln/>
        </p:spPr>
        <p:txBody>
          <a:bodyPr wrap="square" rtlCol="0" anchor="t"/>
          <a:lstStyle/>
          <a:p>
            <a:pPr indent="0" marL="0">
              <a:buNone/>
            </a:pPr>
            <a:r>
              <a:rPr lang="en-US" sz="2100" b="1" dirty="0">
                <a:solidFill>
                  <a:srgbClr val="1F2933"/>
                </a:solidFill>
                <a:latin typeface="Cambria" pitchFamily="34" charset="0"/>
                <a:ea typeface="Cambria" pitchFamily="34" charset="-122"/>
                <a:cs typeface="Cambria" pitchFamily="34" charset="-120"/>
              </a:rPr>
              <a:t>That’s exactly the right thing to do with one-time money: kill a recurring bill instead of starting one.</a:t>
            </a:r>
            <a:endParaRPr lang="en-US" sz="2100" dirty="0"/>
          </a:p>
        </p:txBody>
      </p:sp>
      <p:sp>
        <p:nvSpPr>
          <p:cNvPr id="9" name="Text 7"/>
          <p:cNvSpPr/>
          <p:nvPr/>
        </p:nvSpPr>
        <p:spPr>
          <a:xfrm>
            <a:off x="7772400" y="3749040"/>
            <a:ext cx="3840480" cy="1463040"/>
          </a:xfrm>
          <a:prstGeom prst="rect">
            <a:avLst/>
          </a:prstGeom>
          <a:noFill/>
          <a:ln/>
        </p:spPr>
        <p:txBody>
          <a:bodyPr wrap="square" rtlCol="0" anchor="t"/>
          <a:lstStyle/>
          <a:p>
            <a:pPr indent="0" marL="0">
              <a:buNone/>
            </a:pPr>
            <a:r>
              <a:rPr lang="en-US" sz="1350" dirty="0">
                <a:solidFill>
                  <a:srgbClr val="3F4A56"/>
                </a:solidFill>
                <a:latin typeface="Calibri" pitchFamily="34" charset="0"/>
                <a:ea typeface="Calibri" pitchFamily="34" charset="-122"/>
                <a:cs typeface="Calibri" pitchFamily="34" charset="-120"/>
              </a:rPr>
              <a:t>It got very little attention and it deserved more.</a:t>
            </a:r>
            <a:endParaRPr lang="en-US" sz="1350" dirty="0"/>
          </a:p>
          <a:p>
            <a:pPr indent="0" marL="0">
              <a:buNone/>
            </a:pPr>
            <a:endParaRPr lang="en-US" sz="1350" dirty="0"/>
          </a:p>
          <a:p>
            <a:pPr indent="0" marL="0">
              <a:buNone/>
            </a:pPr>
            <a:r>
              <a:rPr lang="en-US" sz="1350" dirty="0">
                <a:solidFill>
                  <a:srgbClr val="3F4A56"/>
                </a:solidFill>
                <a:latin typeface="Calibri" pitchFamily="34" charset="0"/>
                <a:ea typeface="Calibri" pitchFamily="34" charset="-122"/>
                <a:cs typeface="Calibri" pitchFamily="34" charset="-120"/>
              </a:rPr>
              <a:t>The same meeting adopted the three retirement incentives — also unanimous, on a board that doesn’t agree about much.</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A40"/>
        </a:solidFill>
      </p:bgPr>
    </p:bg>
    <p:spTree>
      <p:nvGrpSpPr>
        <p:cNvPr id="1" name=""/>
        <p:cNvGrpSpPr/>
        <p:nvPr/>
      </p:nvGrpSpPr>
      <p:grpSpPr>
        <a:xfrm>
          <a:off x="0" y="0"/>
          <a:ext cx="0" cy="0"/>
          <a:chOff x="0" y="0"/>
          <a:chExt cx="0" cy="0"/>
        </a:xfrm>
      </p:grpSpPr>
      <p:sp>
        <p:nvSpPr>
          <p:cNvPr id="2" name="Text 0"/>
          <p:cNvSpPr/>
          <p:nvPr/>
        </p:nvSpPr>
        <p:spPr>
          <a:xfrm>
            <a:off x="685800" y="1051560"/>
            <a:ext cx="10789920" cy="274320"/>
          </a:xfrm>
          <a:prstGeom prst="rect">
            <a:avLst/>
          </a:prstGeom>
          <a:noFill/>
          <a:ln/>
        </p:spPr>
        <p:txBody>
          <a:bodyPr wrap="square" rtlCol="0" anchor="ctr"/>
          <a:lstStyle/>
          <a:p>
            <a:pPr indent="0" marL="0">
              <a:buNone/>
            </a:pPr>
            <a:r>
              <a:rPr lang="en-US" sz="1300" b="1" spc="200" kern="0" dirty="0">
                <a:solidFill>
                  <a:srgbClr val="C9962E"/>
                </a:solidFill>
                <a:latin typeface="Calibri" pitchFamily="34" charset="0"/>
                <a:ea typeface="Calibri" pitchFamily="34" charset="-122"/>
                <a:cs typeface="Calibri" pitchFamily="34" charset="-120"/>
              </a:rPr>
              <a:t>WHAT I’M ASKING</a:t>
            </a:r>
            <a:endParaRPr lang="en-US" sz="1300" dirty="0"/>
          </a:p>
        </p:txBody>
      </p:sp>
      <p:sp>
        <p:nvSpPr>
          <p:cNvPr id="3" name="Text 1"/>
          <p:cNvSpPr/>
          <p:nvPr/>
        </p:nvSpPr>
        <p:spPr>
          <a:xfrm>
            <a:off x="685800" y="1417320"/>
            <a:ext cx="10607040" cy="1234440"/>
          </a:xfrm>
          <a:prstGeom prst="rect">
            <a:avLst/>
          </a:prstGeom>
          <a:noFill/>
          <a:ln/>
        </p:spPr>
        <p:txBody>
          <a:bodyPr wrap="square"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Price these five before the tentative budget is filed</a:t>
            </a:r>
            <a:endParaRPr lang="en-US" sz="3200" dirty="0"/>
          </a:p>
        </p:txBody>
      </p:sp>
      <p:sp>
        <p:nvSpPr>
          <p:cNvPr id="4" name="Text 2"/>
          <p:cNvSpPr/>
          <p:nvPr/>
        </p:nvSpPr>
        <p:spPr>
          <a:xfrm>
            <a:off x="685800" y="2743200"/>
            <a:ext cx="9601200" cy="822960"/>
          </a:xfrm>
          <a:prstGeom prst="rect">
            <a:avLst/>
          </a:prstGeom>
          <a:noFill/>
          <a:ln/>
        </p:spPr>
        <p:txBody>
          <a:bodyPr wrap="square" rtlCol="0" anchor="t"/>
          <a:lstStyle/>
          <a:p>
            <a:pPr indent="0" marL="0">
              <a:buNone/>
            </a:pPr>
            <a:r>
              <a:rPr lang="en-US" sz="1700" dirty="0">
                <a:solidFill>
                  <a:srgbClr val="C7D6E5"/>
                </a:solidFill>
                <a:latin typeface="Calibri" pitchFamily="34" charset="0"/>
                <a:ea typeface="Calibri" pitchFamily="34" charset="-122"/>
                <a:cs typeface="Calibri" pitchFamily="34" charset="-120"/>
              </a:rPr>
              <a:t>Not adopt them — price them. If your Financial Administrator’s ledgers contradict any figure here, his numbers are the right ones and I’d like to hear about it.</a:t>
            </a:r>
            <a:endParaRPr lang="en-US" sz="1700" dirty="0"/>
          </a:p>
        </p:txBody>
      </p:sp>
      <p:sp>
        <p:nvSpPr>
          <p:cNvPr id="5" name="Shape 3"/>
          <p:cNvSpPr/>
          <p:nvPr/>
        </p:nvSpPr>
        <p:spPr>
          <a:xfrm>
            <a:off x="713232" y="3803904"/>
            <a:ext cx="146304" cy="146304"/>
          </a:xfrm>
          <a:prstGeom prst="ellipse">
            <a:avLst/>
          </a:prstGeom>
          <a:solidFill>
            <a:srgbClr val="C9962E"/>
          </a:solidFill>
          <a:ln/>
        </p:spPr>
      </p:sp>
      <p:sp>
        <p:nvSpPr>
          <p:cNvPr id="6" name="Text 4"/>
          <p:cNvSpPr/>
          <p:nvPr/>
        </p:nvSpPr>
        <p:spPr>
          <a:xfrm>
            <a:off x="1051560" y="3712464"/>
            <a:ext cx="9601200" cy="329184"/>
          </a:xfrm>
          <a:prstGeom prst="rect">
            <a:avLst/>
          </a:prstGeom>
          <a:noFill/>
          <a:ln/>
        </p:spPr>
        <p:txBody>
          <a:bodyPr wrap="square" rtlCol="0" anchor="ctr"/>
          <a:lstStyle/>
          <a:p>
            <a:pPr indent="0" marL="0">
              <a:buNone/>
            </a:pPr>
            <a:r>
              <a:rPr lang="en-US" sz="1500" dirty="0">
                <a:solidFill>
                  <a:srgbClr val="E2EAF2"/>
                </a:solidFill>
                <a:latin typeface="Calibri" pitchFamily="34" charset="0"/>
                <a:ea typeface="Calibri" pitchFamily="34" charset="-122"/>
                <a:cs typeface="Calibri" pitchFamily="34" charset="-120"/>
              </a:rPr>
              <a:t>Filing deadline: September 30</a:t>
            </a:r>
            <a:endParaRPr lang="en-US" sz="1500" dirty="0"/>
          </a:p>
        </p:txBody>
      </p:sp>
      <p:sp>
        <p:nvSpPr>
          <p:cNvPr id="7" name="Shape 5"/>
          <p:cNvSpPr/>
          <p:nvPr/>
        </p:nvSpPr>
        <p:spPr>
          <a:xfrm>
            <a:off x="713232" y="4306824"/>
            <a:ext cx="146304" cy="146304"/>
          </a:xfrm>
          <a:prstGeom prst="ellipse">
            <a:avLst/>
          </a:prstGeom>
          <a:solidFill>
            <a:srgbClr val="C9962E"/>
          </a:solidFill>
          <a:ln/>
        </p:spPr>
      </p:sp>
      <p:sp>
        <p:nvSpPr>
          <p:cNvPr id="8" name="Text 6"/>
          <p:cNvSpPr/>
          <p:nvPr/>
        </p:nvSpPr>
        <p:spPr>
          <a:xfrm>
            <a:off x="1051560" y="4215384"/>
            <a:ext cx="9601200" cy="329184"/>
          </a:xfrm>
          <a:prstGeom prst="rect">
            <a:avLst/>
          </a:prstGeom>
          <a:noFill/>
          <a:ln/>
        </p:spPr>
        <p:txBody>
          <a:bodyPr wrap="square" rtlCol="0" anchor="ctr"/>
          <a:lstStyle/>
          <a:p>
            <a:pPr indent="0" marL="0">
              <a:buNone/>
            </a:pPr>
            <a:r>
              <a:rPr lang="en-US" sz="1500" dirty="0">
                <a:solidFill>
                  <a:srgbClr val="E2EAF2"/>
                </a:solidFill>
                <a:latin typeface="Calibri" pitchFamily="34" charset="0"/>
                <a:ea typeface="Calibri" pitchFamily="34" charset="-122"/>
                <a:cs typeface="Calibri" pitchFamily="34" charset="-120"/>
              </a:rPr>
              <a:t>Every figure from published Town and State records</a:t>
            </a:r>
            <a:endParaRPr lang="en-US" sz="1500" dirty="0"/>
          </a:p>
        </p:txBody>
      </p:sp>
      <p:sp>
        <p:nvSpPr>
          <p:cNvPr id="9" name="Shape 7"/>
          <p:cNvSpPr/>
          <p:nvPr/>
        </p:nvSpPr>
        <p:spPr>
          <a:xfrm>
            <a:off x="713232" y="4809744"/>
            <a:ext cx="146304" cy="146304"/>
          </a:xfrm>
          <a:prstGeom prst="ellipse">
            <a:avLst/>
          </a:prstGeom>
          <a:solidFill>
            <a:srgbClr val="C9962E"/>
          </a:solidFill>
          <a:ln/>
        </p:spPr>
      </p:sp>
      <p:sp>
        <p:nvSpPr>
          <p:cNvPr id="10" name="Text 8"/>
          <p:cNvSpPr/>
          <p:nvPr/>
        </p:nvSpPr>
        <p:spPr>
          <a:xfrm>
            <a:off x="1051560" y="4718304"/>
            <a:ext cx="9601200" cy="329184"/>
          </a:xfrm>
          <a:prstGeom prst="rect">
            <a:avLst/>
          </a:prstGeom>
          <a:noFill/>
          <a:ln/>
        </p:spPr>
        <p:txBody>
          <a:bodyPr wrap="square" rtlCol="0" anchor="ctr"/>
          <a:lstStyle/>
          <a:p>
            <a:pPr indent="0" marL="0">
              <a:buNone/>
            </a:pPr>
            <a:r>
              <a:rPr lang="en-US" sz="1500" dirty="0">
                <a:solidFill>
                  <a:srgbClr val="E2EAF2"/>
                </a:solidFill>
                <a:latin typeface="Calibri" pitchFamily="34" charset="0"/>
                <a:ea typeface="Calibri" pitchFamily="34" charset="-122"/>
                <a:cs typeface="Calibri" pitchFamily="34" charset="-120"/>
              </a:rPr>
              <a:t>Happy to walk your Financial Administrator through any of it</a:t>
            </a:r>
            <a:endParaRPr lang="en-US" sz="1500" dirty="0"/>
          </a:p>
        </p:txBody>
      </p:sp>
      <p:sp>
        <p:nvSpPr>
          <p:cNvPr id="11" name="Text 9"/>
          <p:cNvSpPr/>
          <p:nvPr/>
        </p:nvSpPr>
        <p:spPr>
          <a:xfrm>
            <a:off x="685800" y="5321808"/>
            <a:ext cx="10789920" cy="502920"/>
          </a:xfrm>
          <a:prstGeom prst="rect">
            <a:avLst/>
          </a:prstGeom>
          <a:noFill/>
          <a:ln/>
        </p:spPr>
        <p:txBody>
          <a:bodyPr wrap="square" rtlCol="0" anchor="t"/>
          <a:lstStyle/>
          <a:p>
            <a:pPr indent="0" marL="0">
              <a:buNone/>
            </a:pPr>
            <a:r>
              <a:rPr lang="en-US" sz="1050" dirty="0">
                <a:solidFill>
                  <a:srgbClr val="8FA5BA"/>
                </a:solidFill>
                <a:latin typeface="Calibri" pitchFamily="34" charset="0"/>
                <a:ea typeface="Calibri" pitchFamily="34" charset="-122"/>
                <a:cs typeface="Calibri" pitchFamily="34" charset="-120"/>
              </a:rPr>
              <a:t>Sources: 2026 Adopted Budget · 2026 Budget Supplement · 2025 Annual Financial Report · 2023 Audited Basic Financial Statements · Town Board minutes, July 7 2026 · NYS Comptroller SFY 2026-27 contribution rates · Town of Southampton 2026 Adopted Budget</a:t>
            </a:r>
            <a:endParaRPr lang="en-US" sz="1050" dirty="0"/>
          </a:p>
        </p:txBody>
      </p:sp>
      <p:sp>
        <p:nvSpPr>
          <p:cNvPr id="12" name="Text 10"/>
          <p:cNvSpPr/>
          <p:nvPr/>
        </p:nvSpPr>
        <p:spPr>
          <a:xfrm>
            <a:off x="685800" y="5870448"/>
            <a:ext cx="10789920" cy="502920"/>
          </a:xfrm>
          <a:prstGeom prst="rect">
            <a:avLst/>
          </a:prstGeom>
          <a:noFill/>
          <a:ln/>
        </p:spPr>
        <p:txBody>
          <a:bodyPr wrap="square" rtlCol="0" anchor="t"/>
          <a:lstStyle/>
          <a:p>
            <a:pPr indent="0" marL="0">
              <a:buNone/>
            </a:pPr>
            <a:r>
              <a:rPr lang="en-US" sz="1050" i="1" dirty="0">
                <a:solidFill>
                  <a:srgbClr val="7E93A8"/>
                </a:solidFill>
                <a:latin typeface="Calibri" pitchFamily="34" charset="0"/>
                <a:ea typeface="Calibri" pitchFamily="34" charset="-122"/>
                <a:cs typeface="Calibri" pitchFamily="34" charset="-120"/>
              </a:rPr>
              <a:t>Projections carry each category forward on signed contract terms where they exist and trailing averages where they don’t. PBA and SOA contracts expire 12/31/2026 with no public successor, so those lines are placeholders. Savings are modeled, not booked.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Riverhead 2027 Budget — Closing the Gap</dc:title>
  <dc:subject>PptxGenJS Presentation</dc:subject>
  <dc:creator>Riverhead Budget Live</dc:creator>
  <cp:lastModifiedBy>Riverhead Budget Live</cp:lastModifiedBy>
  <cp:revision>1</cp:revision>
  <dcterms:created xsi:type="dcterms:W3CDTF">2026-08-20T00:33:01Z</dcterms:created>
  <dcterms:modified xsi:type="dcterms:W3CDTF">2026-08-20T00:33:01Z</dcterms:modified>
</cp:coreProperties>
</file>